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showcases the AI Scrum Master Agent Suite built on VS Code Copilot and Azure DevOps. It automates every stage of the Scrum cycle — from backlog refinement through to release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sections. Approximately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Masters are spending the majority of their time on repetitive admin. This suite automates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lives in VS Code Copilot Chat. Config is one file — config.ini with your Sprint URL and PAT. That's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automation flow. Each row is one stage of the Scrum cycle, one AI agent, and the resulting Azure DevOps API action. The Release Notes Generator at the bottom is triggered at sprint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capability: AI reads the full User Story, synthesises the scope and ACs via GPT-4o, and creates 7 specific SDLC tasks — each with a title and description tied to that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additional agents across 4 categories. Recommend starting with SprintHealthCheck and TestCaseGenerator as the next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X with your actual team size when presenting. Key message: ~20 hours per SM per sprint freed up for coaching and strategic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important message for leadership: this is role enhancement, not replacement. We free SMs to do high-value coaching work that AI cannot replicate.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approve the pilot for one team in Week 1. Results are measurable immediately — time saved, task quality, SM satisfaction. We scale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E"/>
        </a:solidFill>
      </p:bgPr>
    </p:bg>
    <p:spTree>
      <p:nvGrpSpPr>
        <p:cNvPr id="1" name=""/>
        <p:cNvGrpSpPr/>
        <p:nvPr/>
      </p:nvGrpSpPr>
      <p:grpSpPr>
        <a:xfrm>
          <a:off x="0" y="0"/>
          <a:ext cx="0" cy="0"/>
          <a:chOff x="0" y="0"/>
          <a:chExt cx="0" cy="0"/>
        </a:xfrm>
      </p:grpSpPr>
      <p:sp>
        <p:nvSpPr>
          <p:cNvPr id="2" name="Shape 0"/>
          <p:cNvSpPr/>
          <p:nvPr/>
        </p:nvSpPr>
        <p:spPr>
          <a:xfrm>
            <a:off x="6949440" y="-1005840"/>
            <a:ext cx="3200400" cy="3200400"/>
          </a:xfrm>
          <a:prstGeom prst="ellipse">
            <a:avLst/>
          </a:prstGeom>
          <a:solidFill>
            <a:srgbClr val="1565C0">
              <a:alpha val="28000"/>
            </a:srgbClr>
          </a:solidFill>
          <a:ln w="12700">
            <a:solidFill>
              <a:srgbClr val="1565C0">
                <a:alpha val="28000"/>
              </a:srgbClr>
            </a:solidFill>
            <a:prstDash val="solid"/>
          </a:ln>
        </p:spPr>
      </p:sp>
      <p:sp>
        <p:nvSpPr>
          <p:cNvPr id="3" name="Shape 1"/>
          <p:cNvSpPr/>
          <p:nvPr/>
        </p:nvSpPr>
        <p:spPr>
          <a:xfrm>
            <a:off x="7772400" y="-274320"/>
            <a:ext cx="1828800" cy="1828800"/>
          </a:xfrm>
          <a:prstGeom prst="ellipse">
            <a:avLst/>
          </a:prstGeom>
          <a:solidFill>
            <a:srgbClr val="1E88E5">
              <a:alpha val="40000"/>
            </a:srgbClr>
          </a:solidFill>
          <a:ln w="12700">
            <a:solidFill>
              <a:srgbClr val="1E88E5">
                <a:alpha val="40000"/>
              </a:srgbClr>
            </a:solidFill>
            <a:prstDash val="solid"/>
          </a:ln>
        </p:spPr>
      </p:sp>
      <p:sp>
        <p:nvSpPr>
          <p:cNvPr id="4" name="Shape 2"/>
          <p:cNvSpPr/>
          <p:nvPr/>
        </p:nvSpPr>
        <p:spPr>
          <a:xfrm>
            <a:off x="0" y="4681728"/>
            <a:ext cx="9144000" cy="461772"/>
          </a:xfrm>
          <a:prstGeom prst="rect">
            <a:avLst/>
          </a:prstGeom>
          <a:solidFill>
            <a:srgbClr val="1565C0"/>
          </a:solidFill>
          <a:ln w="12700">
            <a:solidFill>
              <a:srgbClr val="1565C0"/>
            </a:solidFill>
            <a:prstDash val="solid"/>
          </a:ln>
        </p:spPr>
      </p:sp>
      <p:sp>
        <p:nvSpPr>
          <p:cNvPr id="5" name="Shape 3"/>
          <p:cNvSpPr/>
          <p:nvPr/>
        </p:nvSpPr>
        <p:spPr>
          <a:xfrm>
            <a:off x="457200" y="420624"/>
            <a:ext cx="1097280" cy="329184"/>
          </a:xfrm>
          <a:prstGeom prst="roundRect">
            <a:avLst>
              <a:gd name="adj" fmla="val 13889"/>
            </a:avLst>
          </a:prstGeom>
          <a:solidFill>
            <a:srgbClr val="1E88E5"/>
          </a:solidFill>
          <a:ln w="12700">
            <a:solidFill>
              <a:srgbClr val="1E88E5"/>
            </a:solidFill>
            <a:prstDash val="solid"/>
          </a:ln>
        </p:spPr>
      </p:sp>
      <p:sp>
        <p:nvSpPr>
          <p:cNvPr id="6" name="Text 4"/>
          <p:cNvSpPr/>
          <p:nvPr/>
        </p:nvSpPr>
        <p:spPr>
          <a:xfrm>
            <a:off x="457200" y="420624"/>
            <a:ext cx="1097280" cy="329184"/>
          </a:xfrm>
          <a:prstGeom prst="rect">
            <a:avLst/>
          </a:prstGeom>
          <a:noFill/>
          <a:ln/>
        </p:spPr>
        <p:txBody>
          <a:bodyPr wrap="square" lIns="0" tIns="0" rIns="0" bIns="0" rtlCol="0" anchor="ctr"/>
          <a:lstStyle/>
          <a:p>
            <a:pPr algn="ctr" indent="0" marL="0">
              <a:buNone/>
            </a:pPr>
            <a:r>
              <a:rPr lang="en-US" sz="1300" b="1" dirty="0">
                <a:solidFill>
                  <a:srgbClr val="FFFFFF"/>
                </a:solidFill>
              </a:rPr>
              <a:t>ABC</a:t>
            </a:r>
            <a:endParaRPr lang="en-US" sz="1300" dirty="0"/>
          </a:p>
        </p:txBody>
      </p:sp>
      <p:sp>
        <p:nvSpPr>
          <p:cNvPr id="7" name="Text 5"/>
          <p:cNvSpPr/>
          <p:nvPr/>
        </p:nvSpPr>
        <p:spPr>
          <a:xfrm>
            <a:off x="457200" y="1024128"/>
            <a:ext cx="7772400" cy="5943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AI-Powered Scrum Master</a:t>
            </a:r>
            <a:endParaRPr lang="en-US" sz="4000" dirty="0"/>
          </a:p>
        </p:txBody>
      </p:sp>
      <p:sp>
        <p:nvSpPr>
          <p:cNvPr id="8" name="Text 6"/>
          <p:cNvSpPr/>
          <p:nvPr/>
        </p:nvSpPr>
        <p:spPr>
          <a:xfrm>
            <a:off x="457200" y="1581912"/>
            <a:ext cx="6400800" cy="594360"/>
          </a:xfrm>
          <a:prstGeom prst="rect">
            <a:avLst/>
          </a:prstGeom>
          <a:noFill/>
          <a:ln/>
        </p:spPr>
        <p:txBody>
          <a:bodyPr wrap="square" rtlCol="0" anchor="ctr"/>
          <a:lstStyle/>
          <a:p>
            <a:pPr indent="0" marL="0">
              <a:buNone/>
            </a:pPr>
            <a:r>
              <a:rPr lang="en-US" sz="4000" b="1" dirty="0">
                <a:solidFill>
                  <a:srgbClr val="E3F0FF"/>
                </a:solidFill>
                <a:latin typeface="Calibri" pitchFamily="34" charset="0"/>
                <a:ea typeface="Calibri" pitchFamily="34" charset="-122"/>
                <a:cs typeface="Calibri" pitchFamily="34" charset="-120"/>
              </a:rPr>
              <a:t>Agent Suite</a:t>
            </a:r>
            <a:endParaRPr lang="en-US" sz="4000" dirty="0"/>
          </a:p>
        </p:txBody>
      </p:sp>
      <p:sp>
        <p:nvSpPr>
          <p:cNvPr id="9" name="Text 7"/>
          <p:cNvSpPr/>
          <p:nvPr/>
        </p:nvSpPr>
        <p:spPr>
          <a:xfrm>
            <a:off x="457200" y="2359152"/>
            <a:ext cx="6583680" cy="777240"/>
          </a:xfrm>
          <a:prstGeom prst="rect">
            <a:avLst/>
          </a:prstGeom>
          <a:noFill/>
          <a:ln/>
        </p:spPr>
        <p:txBody>
          <a:bodyPr wrap="square" rtlCol="0" anchor="ctr"/>
          <a:lstStyle/>
          <a:p>
            <a:pPr indent="0" marL="0">
              <a:lnSpc>
                <a:spcPct val="135000"/>
              </a:lnSpc>
              <a:buNone/>
            </a:pPr>
            <a:r>
              <a:rPr lang="en-US" sz="1400" dirty="0">
                <a:solidFill>
                  <a:srgbClr val="CBD5E1"/>
                </a:solidFill>
                <a:latin typeface="Calibri" pitchFamily="34" charset="0"/>
                <a:ea typeface="Calibri" pitchFamily="34" charset="-122"/>
                <a:cs typeface="Calibri" pitchFamily="34" charset="-120"/>
              </a:rPr>
              <a:t>Transforming how Scrum Masters lead teams on Azure DevOps</a:t>
            </a:r>
            <a:endParaRPr lang="en-US" sz="1400" dirty="0"/>
          </a:p>
          <a:p>
            <a:pPr indent="0" marL="0">
              <a:lnSpc>
                <a:spcPct val="135000"/>
              </a:lnSpc>
              <a:buNone/>
            </a:pPr>
            <a:r>
              <a:rPr lang="en-US" sz="1400" dirty="0">
                <a:solidFill>
                  <a:srgbClr val="CBD5E1"/>
                </a:solidFill>
                <a:latin typeface="Calibri" pitchFamily="34" charset="0"/>
                <a:ea typeface="Calibri" pitchFamily="34" charset="-122"/>
                <a:cs typeface="Calibri" pitchFamily="34" charset="-120"/>
              </a:rPr>
              <a:t>using VS Code Copilot AI Agents — @ScrumAgent</a:t>
            </a:r>
            <a:endParaRPr lang="en-US" sz="1400" dirty="0"/>
          </a:p>
        </p:txBody>
      </p:sp>
      <p:sp>
        <p:nvSpPr>
          <p:cNvPr id="10" name="Text 8"/>
          <p:cNvSpPr/>
          <p:nvPr/>
        </p:nvSpPr>
        <p:spPr>
          <a:xfrm>
            <a:off x="457200" y="4718304"/>
            <a:ext cx="6583680" cy="32918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@ScrumAgent  ·  Azure DevOps  ·  GitHub Copilot  ·  GPT-4o</a:t>
            </a:r>
            <a:endParaRPr lang="en-US" sz="1100" dirty="0"/>
          </a:p>
        </p:txBody>
      </p:sp>
      <p:sp>
        <p:nvSpPr>
          <p:cNvPr id="11" name="Text 9"/>
          <p:cNvSpPr/>
          <p:nvPr/>
        </p:nvSpPr>
        <p:spPr>
          <a:xfrm>
            <a:off x="6400800" y="4718304"/>
            <a:ext cx="2514600" cy="329184"/>
          </a:xfrm>
          <a:prstGeom prst="rect">
            <a:avLst/>
          </a:prstGeom>
          <a:noFill/>
          <a:ln/>
        </p:spPr>
        <p:txBody>
          <a:bodyPr wrap="square" lIns="0" tIns="0" rIns="0" bIns="0" rtlCol="0" anchor="ctr"/>
          <a:lstStyle/>
          <a:p>
            <a:pPr algn="r" indent="0" marL="0">
              <a:buNone/>
            </a:pPr>
            <a:r>
              <a:rPr lang="en-US" sz="1000" dirty="0">
                <a:solidFill>
                  <a:srgbClr val="E3F0FF"/>
                </a:solidFill>
                <a:latin typeface="Calibri" pitchFamily="34" charset="0"/>
                <a:ea typeface="Calibri" pitchFamily="34" charset="-122"/>
                <a:cs typeface="Calibri" pitchFamily="34" charset="-120"/>
              </a:rPr>
              <a:t>Confidential  |  Leadership Review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B5E"/>
          </a:solidFill>
          <a:ln w="12700">
            <a:solidFill>
              <a:srgbClr val="0D2B5E"/>
            </a:solidFill>
            <a:prstDash val="solid"/>
          </a:ln>
        </p:spPr>
      </p:sp>
      <p:sp>
        <p:nvSpPr>
          <p:cNvPr id="3" name="Shape 1"/>
          <p:cNvSpPr/>
          <p:nvPr/>
        </p:nvSpPr>
        <p:spPr>
          <a:xfrm>
            <a:off x="365760" y="301752"/>
            <a:ext cx="822960" cy="310896"/>
          </a:xfrm>
          <a:prstGeom prst="roundRect">
            <a:avLst>
              <a:gd name="adj" fmla="val 14706"/>
            </a:avLst>
          </a:prstGeom>
          <a:solidFill>
            <a:srgbClr val="1E88E5"/>
          </a:solidFill>
          <a:ln w="12700">
            <a:solidFill>
              <a:srgbClr val="1E88E5"/>
            </a:solidFill>
            <a:prstDash val="solid"/>
          </a:ln>
        </p:spPr>
      </p:sp>
      <p:sp>
        <p:nvSpPr>
          <p:cNvPr id="4" name="Text 2"/>
          <p:cNvSpPr/>
          <p:nvPr/>
        </p:nvSpPr>
        <p:spPr>
          <a:xfrm>
            <a:off x="365760" y="3017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46888"/>
            <a:ext cx="7406640" cy="49377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Today's Agenda</a:t>
            </a:r>
            <a:endParaRPr lang="en-US" sz="2400" dirty="0"/>
          </a:p>
        </p:txBody>
      </p:sp>
      <p:sp>
        <p:nvSpPr>
          <p:cNvPr id="6" name="Shape 4"/>
          <p:cNvSpPr/>
          <p:nvPr/>
        </p:nvSpPr>
        <p:spPr>
          <a:xfrm>
            <a:off x="365760" y="1097280"/>
            <a:ext cx="4160520" cy="822960"/>
          </a:xfrm>
          <a:prstGeom prst="roundRect">
            <a:avLst>
              <a:gd name="adj" fmla="val 8889"/>
            </a:avLst>
          </a:prstGeom>
          <a:solidFill>
            <a:srgbClr val="E3F0FF"/>
          </a:solidFill>
          <a:ln w="12700">
            <a:solidFill>
              <a:srgbClr val="DBEAFE"/>
            </a:solidFill>
            <a:prstDash val="solid"/>
          </a:ln>
        </p:spPr>
      </p:sp>
      <p:sp>
        <p:nvSpPr>
          <p:cNvPr id="7" name="Shape 5"/>
          <p:cNvSpPr/>
          <p:nvPr/>
        </p:nvSpPr>
        <p:spPr>
          <a:xfrm>
            <a:off x="457200" y="1280160"/>
            <a:ext cx="457200" cy="457200"/>
          </a:xfrm>
          <a:prstGeom prst="ellipse">
            <a:avLst/>
          </a:prstGeom>
          <a:solidFill>
            <a:srgbClr val="1565C0"/>
          </a:solidFill>
          <a:ln w="12700">
            <a:solidFill>
              <a:srgbClr val="1565C0"/>
            </a:solidFill>
            <a:prstDash val="solid"/>
          </a:ln>
        </p:spPr>
      </p:sp>
      <p:sp>
        <p:nvSpPr>
          <p:cNvPr id="8" name="Text 6"/>
          <p:cNvSpPr/>
          <p:nvPr/>
        </p:nvSpPr>
        <p:spPr>
          <a:xfrm>
            <a:off x="457200" y="128016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9" name="Text 7"/>
          <p:cNvSpPr/>
          <p:nvPr/>
        </p:nvSpPr>
        <p:spPr>
          <a:xfrm>
            <a:off x="1024128" y="1188720"/>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The Challenge</a:t>
            </a:r>
            <a:endParaRPr lang="en-US" sz="1200" dirty="0"/>
          </a:p>
        </p:txBody>
      </p:sp>
      <p:sp>
        <p:nvSpPr>
          <p:cNvPr id="10" name="Text 8"/>
          <p:cNvSpPr/>
          <p:nvPr/>
        </p:nvSpPr>
        <p:spPr>
          <a:xfrm>
            <a:off x="1024128" y="1536192"/>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Manual Scrum pain points at scale</a:t>
            </a:r>
            <a:endParaRPr lang="en-US" sz="950" dirty="0"/>
          </a:p>
        </p:txBody>
      </p:sp>
      <p:sp>
        <p:nvSpPr>
          <p:cNvPr id="11" name="Shape 9"/>
          <p:cNvSpPr/>
          <p:nvPr/>
        </p:nvSpPr>
        <p:spPr>
          <a:xfrm>
            <a:off x="365760" y="2048256"/>
            <a:ext cx="4160520" cy="822960"/>
          </a:xfrm>
          <a:prstGeom prst="roundRect">
            <a:avLst>
              <a:gd name="adj" fmla="val 8889"/>
            </a:avLst>
          </a:prstGeom>
          <a:solidFill>
            <a:srgbClr val="E3F0FF"/>
          </a:solidFill>
          <a:ln w="12700">
            <a:solidFill>
              <a:srgbClr val="DBEAFE"/>
            </a:solidFill>
            <a:prstDash val="solid"/>
          </a:ln>
        </p:spPr>
      </p:sp>
      <p:sp>
        <p:nvSpPr>
          <p:cNvPr id="12" name="Shape 10"/>
          <p:cNvSpPr/>
          <p:nvPr/>
        </p:nvSpPr>
        <p:spPr>
          <a:xfrm>
            <a:off x="457200" y="2231136"/>
            <a:ext cx="457200" cy="457200"/>
          </a:xfrm>
          <a:prstGeom prst="ellipse">
            <a:avLst/>
          </a:prstGeom>
          <a:solidFill>
            <a:srgbClr val="1565C0"/>
          </a:solidFill>
          <a:ln w="12700">
            <a:solidFill>
              <a:srgbClr val="1565C0"/>
            </a:solidFill>
            <a:prstDash val="solid"/>
          </a:ln>
        </p:spPr>
      </p:sp>
      <p:sp>
        <p:nvSpPr>
          <p:cNvPr id="13" name="Text 11"/>
          <p:cNvSpPr/>
          <p:nvPr/>
        </p:nvSpPr>
        <p:spPr>
          <a:xfrm>
            <a:off x="457200" y="223113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4" name="Text 12"/>
          <p:cNvSpPr/>
          <p:nvPr/>
        </p:nvSpPr>
        <p:spPr>
          <a:xfrm>
            <a:off x="1024128" y="2139696"/>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Solution Overview</a:t>
            </a:r>
            <a:endParaRPr lang="en-US" sz="1200" dirty="0"/>
          </a:p>
        </p:txBody>
      </p:sp>
      <p:sp>
        <p:nvSpPr>
          <p:cNvPr id="15" name="Text 13"/>
          <p:cNvSpPr/>
          <p:nvPr/>
        </p:nvSpPr>
        <p:spPr>
          <a:xfrm>
            <a:off x="1024128" y="2487168"/>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@ScrumAgent architecture on VS Code + Azure DevOps</a:t>
            </a:r>
            <a:endParaRPr lang="en-US" sz="950" dirty="0"/>
          </a:p>
        </p:txBody>
      </p:sp>
      <p:sp>
        <p:nvSpPr>
          <p:cNvPr id="16" name="Shape 14"/>
          <p:cNvSpPr/>
          <p:nvPr/>
        </p:nvSpPr>
        <p:spPr>
          <a:xfrm>
            <a:off x="365760" y="2999232"/>
            <a:ext cx="4160520" cy="822960"/>
          </a:xfrm>
          <a:prstGeom prst="roundRect">
            <a:avLst>
              <a:gd name="adj" fmla="val 8889"/>
            </a:avLst>
          </a:prstGeom>
          <a:solidFill>
            <a:srgbClr val="E3F0FF"/>
          </a:solidFill>
          <a:ln w="12700">
            <a:solidFill>
              <a:srgbClr val="DBEAFE"/>
            </a:solidFill>
            <a:prstDash val="solid"/>
          </a:ln>
        </p:spPr>
      </p:sp>
      <p:sp>
        <p:nvSpPr>
          <p:cNvPr id="17" name="Shape 15"/>
          <p:cNvSpPr/>
          <p:nvPr/>
        </p:nvSpPr>
        <p:spPr>
          <a:xfrm>
            <a:off x="457200" y="3182112"/>
            <a:ext cx="457200" cy="457200"/>
          </a:xfrm>
          <a:prstGeom prst="ellipse">
            <a:avLst/>
          </a:prstGeom>
          <a:solidFill>
            <a:srgbClr val="1565C0"/>
          </a:solidFill>
          <a:ln w="12700">
            <a:solidFill>
              <a:srgbClr val="1565C0"/>
            </a:solidFill>
            <a:prstDash val="solid"/>
          </a:ln>
        </p:spPr>
      </p:sp>
      <p:sp>
        <p:nvSpPr>
          <p:cNvPr id="18" name="Text 16"/>
          <p:cNvSpPr/>
          <p:nvPr/>
        </p:nvSpPr>
        <p:spPr>
          <a:xfrm>
            <a:off x="457200" y="318211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9" name="Text 17"/>
          <p:cNvSpPr/>
          <p:nvPr/>
        </p:nvSpPr>
        <p:spPr>
          <a:xfrm>
            <a:off x="1024128" y="3090672"/>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Automation Flow</a:t>
            </a:r>
            <a:endParaRPr lang="en-US" sz="1200" dirty="0"/>
          </a:p>
        </p:txBody>
      </p:sp>
      <p:sp>
        <p:nvSpPr>
          <p:cNvPr id="20" name="Text 18"/>
          <p:cNvSpPr/>
          <p:nvPr/>
        </p:nvSpPr>
        <p:spPr>
          <a:xfrm>
            <a:off x="1024128" y="3438144"/>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All 6 Scrum stage agents — live diagram</a:t>
            </a:r>
            <a:endParaRPr lang="en-US" sz="950" dirty="0"/>
          </a:p>
        </p:txBody>
      </p:sp>
      <p:sp>
        <p:nvSpPr>
          <p:cNvPr id="21" name="Shape 19"/>
          <p:cNvSpPr/>
          <p:nvPr/>
        </p:nvSpPr>
        <p:spPr>
          <a:xfrm>
            <a:off x="365760" y="3950208"/>
            <a:ext cx="4160520" cy="822960"/>
          </a:xfrm>
          <a:prstGeom prst="roundRect">
            <a:avLst>
              <a:gd name="adj" fmla="val 8889"/>
            </a:avLst>
          </a:prstGeom>
          <a:solidFill>
            <a:srgbClr val="E3F0FF"/>
          </a:solidFill>
          <a:ln w="12700">
            <a:solidFill>
              <a:srgbClr val="DBEAFE"/>
            </a:solidFill>
            <a:prstDash val="solid"/>
          </a:ln>
        </p:spPr>
      </p:sp>
      <p:sp>
        <p:nvSpPr>
          <p:cNvPr id="22" name="Shape 20"/>
          <p:cNvSpPr/>
          <p:nvPr/>
        </p:nvSpPr>
        <p:spPr>
          <a:xfrm>
            <a:off x="457200" y="4133088"/>
            <a:ext cx="457200" cy="457200"/>
          </a:xfrm>
          <a:prstGeom prst="ellipse">
            <a:avLst/>
          </a:prstGeom>
          <a:solidFill>
            <a:srgbClr val="1565C0"/>
          </a:solidFill>
          <a:ln w="12700">
            <a:solidFill>
              <a:srgbClr val="1565C0"/>
            </a:solidFill>
            <a:prstDash val="solid"/>
          </a:ln>
        </p:spPr>
      </p:sp>
      <p:sp>
        <p:nvSpPr>
          <p:cNvPr id="23" name="Text 21"/>
          <p:cNvSpPr/>
          <p:nvPr/>
        </p:nvSpPr>
        <p:spPr>
          <a:xfrm>
            <a:off x="457200" y="413308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24" name="Text 22"/>
          <p:cNvSpPr/>
          <p:nvPr/>
        </p:nvSpPr>
        <p:spPr>
          <a:xfrm>
            <a:off x="1024128" y="4041648"/>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Sprint Planning Deep Dive</a:t>
            </a:r>
            <a:endParaRPr lang="en-US" sz="1200" dirty="0"/>
          </a:p>
        </p:txBody>
      </p:sp>
      <p:sp>
        <p:nvSpPr>
          <p:cNvPr id="25" name="Text 23"/>
          <p:cNvSpPr/>
          <p:nvPr/>
        </p:nvSpPr>
        <p:spPr>
          <a:xfrm>
            <a:off x="1024128" y="4389120"/>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SDLC child task auto-generation per User Story</a:t>
            </a:r>
            <a:endParaRPr lang="en-US" sz="950" dirty="0"/>
          </a:p>
        </p:txBody>
      </p:sp>
      <p:sp>
        <p:nvSpPr>
          <p:cNvPr id="26" name="Shape 24"/>
          <p:cNvSpPr/>
          <p:nvPr/>
        </p:nvSpPr>
        <p:spPr>
          <a:xfrm>
            <a:off x="4773168" y="1097280"/>
            <a:ext cx="4160520" cy="822960"/>
          </a:xfrm>
          <a:prstGeom prst="roundRect">
            <a:avLst>
              <a:gd name="adj" fmla="val 8889"/>
            </a:avLst>
          </a:prstGeom>
          <a:solidFill>
            <a:srgbClr val="EFF6FF"/>
          </a:solidFill>
          <a:ln w="12700">
            <a:solidFill>
              <a:srgbClr val="DBEAFE"/>
            </a:solidFill>
            <a:prstDash val="solid"/>
          </a:ln>
        </p:spPr>
      </p:sp>
      <p:sp>
        <p:nvSpPr>
          <p:cNvPr id="27" name="Shape 25"/>
          <p:cNvSpPr/>
          <p:nvPr/>
        </p:nvSpPr>
        <p:spPr>
          <a:xfrm>
            <a:off x="4864608" y="1280160"/>
            <a:ext cx="457200" cy="457200"/>
          </a:xfrm>
          <a:prstGeom prst="ellipse">
            <a:avLst/>
          </a:prstGeom>
          <a:solidFill>
            <a:srgbClr val="1565C0"/>
          </a:solidFill>
          <a:ln w="12700">
            <a:solidFill>
              <a:srgbClr val="1565C0"/>
            </a:solidFill>
            <a:prstDash val="solid"/>
          </a:ln>
        </p:spPr>
      </p:sp>
      <p:sp>
        <p:nvSpPr>
          <p:cNvPr id="28" name="Text 26"/>
          <p:cNvSpPr/>
          <p:nvPr/>
        </p:nvSpPr>
        <p:spPr>
          <a:xfrm>
            <a:off x="4864608" y="128016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29" name="Text 27"/>
          <p:cNvSpPr/>
          <p:nvPr/>
        </p:nvSpPr>
        <p:spPr>
          <a:xfrm>
            <a:off x="5431536" y="1188720"/>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Agent Roadmap</a:t>
            </a:r>
            <a:endParaRPr lang="en-US" sz="1200" dirty="0"/>
          </a:p>
        </p:txBody>
      </p:sp>
      <p:sp>
        <p:nvSpPr>
          <p:cNvPr id="30" name="Text 28"/>
          <p:cNvSpPr/>
          <p:nvPr/>
        </p:nvSpPr>
        <p:spPr>
          <a:xfrm>
            <a:off x="5431536" y="1536192"/>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18 additional agents planned across 4 categories</a:t>
            </a:r>
            <a:endParaRPr lang="en-US" sz="950" dirty="0"/>
          </a:p>
        </p:txBody>
      </p:sp>
      <p:sp>
        <p:nvSpPr>
          <p:cNvPr id="31" name="Shape 29"/>
          <p:cNvSpPr/>
          <p:nvPr/>
        </p:nvSpPr>
        <p:spPr>
          <a:xfrm>
            <a:off x="4773168" y="2048256"/>
            <a:ext cx="4160520" cy="822960"/>
          </a:xfrm>
          <a:prstGeom prst="roundRect">
            <a:avLst>
              <a:gd name="adj" fmla="val 8889"/>
            </a:avLst>
          </a:prstGeom>
          <a:solidFill>
            <a:srgbClr val="EFF6FF"/>
          </a:solidFill>
          <a:ln w="12700">
            <a:solidFill>
              <a:srgbClr val="DBEAFE"/>
            </a:solidFill>
            <a:prstDash val="solid"/>
          </a:ln>
        </p:spPr>
      </p:sp>
      <p:sp>
        <p:nvSpPr>
          <p:cNvPr id="32" name="Shape 30"/>
          <p:cNvSpPr/>
          <p:nvPr/>
        </p:nvSpPr>
        <p:spPr>
          <a:xfrm>
            <a:off x="4864608" y="2231136"/>
            <a:ext cx="457200" cy="457200"/>
          </a:xfrm>
          <a:prstGeom prst="ellipse">
            <a:avLst/>
          </a:prstGeom>
          <a:solidFill>
            <a:srgbClr val="1565C0"/>
          </a:solidFill>
          <a:ln w="12700">
            <a:solidFill>
              <a:srgbClr val="1565C0"/>
            </a:solidFill>
            <a:prstDash val="solid"/>
          </a:ln>
        </p:spPr>
      </p:sp>
      <p:sp>
        <p:nvSpPr>
          <p:cNvPr id="33" name="Text 31"/>
          <p:cNvSpPr/>
          <p:nvPr/>
        </p:nvSpPr>
        <p:spPr>
          <a:xfrm>
            <a:off x="4864608" y="2231136"/>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06</a:t>
            </a:r>
            <a:endParaRPr lang="en-US" sz="1100" dirty="0"/>
          </a:p>
        </p:txBody>
      </p:sp>
      <p:sp>
        <p:nvSpPr>
          <p:cNvPr id="34" name="Text 32"/>
          <p:cNvSpPr/>
          <p:nvPr/>
        </p:nvSpPr>
        <p:spPr>
          <a:xfrm>
            <a:off x="5431536" y="2139696"/>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Efficiency Gains</a:t>
            </a:r>
            <a:endParaRPr lang="en-US" sz="1200" dirty="0"/>
          </a:p>
        </p:txBody>
      </p:sp>
      <p:sp>
        <p:nvSpPr>
          <p:cNvPr id="35" name="Text 33"/>
          <p:cNvSpPr/>
          <p:nvPr/>
        </p:nvSpPr>
        <p:spPr>
          <a:xfrm>
            <a:off x="5431536" y="2487168"/>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Time savings calculated for team of X</a:t>
            </a:r>
            <a:endParaRPr lang="en-US" sz="950" dirty="0"/>
          </a:p>
        </p:txBody>
      </p:sp>
      <p:sp>
        <p:nvSpPr>
          <p:cNvPr id="36" name="Shape 34"/>
          <p:cNvSpPr/>
          <p:nvPr/>
        </p:nvSpPr>
        <p:spPr>
          <a:xfrm>
            <a:off x="4773168" y="2999232"/>
            <a:ext cx="4160520" cy="822960"/>
          </a:xfrm>
          <a:prstGeom prst="roundRect">
            <a:avLst>
              <a:gd name="adj" fmla="val 8889"/>
            </a:avLst>
          </a:prstGeom>
          <a:solidFill>
            <a:srgbClr val="EFF6FF"/>
          </a:solidFill>
          <a:ln w="12700">
            <a:solidFill>
              <a:srgbClr val="DBEAFE"/>
            </a:solidFill>
            <a:prstDash val="solid"/>
          </a:ln>
        </p:spPr>
      </p:sp>
      <p:sp>
        <p:nvSpPr>
          <p:cNvPr id="37" name="Shape 35"/>
          <p:cNvSpPr/>
          <p:nvPr/>
        </p:nvSpPr>
        <p:spPr>
          <a:xfrm>
            <a:off x="4864608" y="3182112"/>
            <a:ext cx="457200" cy="457200"/>
          </a:xfrm>
          <a:prstGeom prst="ellipse">
            <a:avLst/>
          </a:prstGeom>
          <a:solidFill>
            <a:srgbClr val="1565C0"/>
          </a:solidFill>
          <a:ln w="12700">
            <a:solidFill>
              <a:srgbClr val="1565C0"/>
            </a:solidFill>
            <a:prstDash val="solid"/>
          </a:ln>
        </p:spPr>
      </p:sp>
      <p:sp>
        <p:nvSpPr>
          <p:cNvPr id="38" name="Text 36"/>
          <p:cNvSpPr/>
          <p:nvPr/>
        </p:nvSpPr>
        <p:spPr>
          <a:xfrm>
            <a:off x="4864608" y="3182112"/>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07</a:t>
            </a:r>
            <a:endParaRPr lang="en-US" sz="1100" dirty="0"/>
          </a:p>
        </p:txBody>
      </p:sp>
      <p:sp>
        <p:nvSpPr>
          <p:cNvPr id="39" name="Text 37"/>
          <p:cNvSpPr/>
          <p:nvPr/>
        </p:nvSpPr>
        <p:spPr>
          <a:xfrm>
            <a:off x="5431536" y="3090672"/>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Scrum Master Evolution</a:t>
            </a:r>
            <a:endParaRPr lang="en-US" sz="1200" dirty="0"/>
          </a:p>
        </p:txBody>
      </p:sp>
      <p:sp>
        <p:nvSpPr>
          <p:cNvPr id="40" name="Text 38"/>
          <p:cNvSpPr/>
          <p:nvPr/>
        </p:nvSpPr>
        <p:spPr>
          <a:xfrm>
            <a:off x="5431536" y="3438144"/>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From manual admin to AI-augmented coaching</a:t>
            </a:r>
            <a:endParaRPr lang="en-US" sz="950" dirty="0"/>
          </a:p>
        </p:txBody>
      </p:sp>
      <p:sp>
        <p:nvSpPr>
          <p:cNvPr id="41" name="Shape 39"/>
          <p:cNvSpPr/>
          <p:nvPr/>
        </p:nvSpPr>
        <p:spPr>
          <a:xfrm>
            <a:off x="4773168" y="3950208"/>
            <a:ext cx="4160520" cy="822960"/>
          </a:xfrm>
          <a:prstGeom prst="roundRect">
            <a:avLst>
              <a:gd name="adj" fmla="val 8889"/>
            </a:avLst>
          </a:prstGeom>
          <a:solidFill>
            <a:srgbClr val="EFF6FF"/>
          </a:solidFill>
          <a:ln w="12700">
            <a:solidFill>
              <a:srgbClr val="DBEAFE"/>
            </a:solidFill>
            <a:prstDash val="solid"/>
          </a:ln>
        </p:spPr>
      </p:sp>
      <p:sp>
        <p:nvSpPr>
          <p:cNvPr id="42" name="Shape 40"/>
          <p:cNvSpPr/>
          <p:nvPr/>
        </p:nvSpPr>
        <p:spPr>
          <a:xfrm>
            <a:off x="4864608" y="4133088"/>
            <a:ext cx="457200" cy="457200"/>
          </a:xfrm>
          <a:prstGeom prst="ellipse">
            <a:avLst/>
          </a:prstGeom>
          <a:solidFill>
            <a:srgbClr val="1565C0"/>
          </a:solidFill>
          <a:ln w="12700">
            <a:solidFill>
              <a:srgbClr val="1565C0"/>
            </a:solidFill>
            <a:prstDash val="solid"/>
          </a:ln>
        </p:spPr>
      </p:sp>
      <p:sp>
        <p:nvSpPr>
          <p:cNvPr id="43" name="Text 41"/>
          <p:cNvSpPr/>
          <p:nvPr/>
        </p:nvSpPr>
        <p:spPr>
          <a:xfrm>
            <a:off x="4864608" y="413308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rPr>
              <a:t>08</a:t>
            </a:r>
            <a:endParaRPr lang="en-US" sz="1100" dirty="0"/>
          </a:p>
        </p:txBody>
      </p:sp>
      <p:sp>
        <p:nvSpPr>
          <p:cNvPr id="44" name="Text 42"/>
          <p:cNvSpPr/>
          <p:nvPr/>
        </p:nvSpPr>
        <p:spPr>
          <a:xfrm>
            <a:off x="5431536" y="4041648"/>
            <a:ext cx="3401568" cy="32004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Next Steps</a:t>
            </a:r>
            <a:endParaRPr lang="en-US" sz="1200" dirty="0"/>
          </a:p>
        </p:txBody>
      </p:sp>
      <p:sp>
        <p:nvSpPr>
          <p:cNvPr id="45" name="Text 43"/>
          <p:cNvSpPr/>
          <p:nvPr/>
        </p:nvSpPr>
        <p:spPr>
          <a:xfrm>
            <a:off x="5431536" y="4389120"/>
            <a:ext cx="3401568" cy="292608"/>
          </a:xfrm>
          <a:prstGeom prst="rect">
            <a:avLst/>
          </a:prstGeom>
          <a:noFill/>
          <a:ln/>
        </p:spPr>
        <p:txBody>
          <a:bodyPr wrap="square" lIns="0" tIns="0" rIns="0" bIns="0" rtlCol="0" anchor="ctr"/>
          <a:lstStyle/>
          <a:p>
            <a:pPr indent="0" marL="0">
              <a:buNone/>
            </a:pPr>
            <a:r>
              <a:rPr lang="en-US" sz="950" dirty="0">
                <a:solidFill>
                  <a:srgbClr val="5B7FA6"/>
                </a:solidFill>
                <a:latin typeface="Calibri" pitchFamily="34" charset="0"/>
                <a:ea typeface="Calibri" pitchFamily="34" charset="-122"/>
                <a:cs typeface="Calibri" pitchFamily="34" charset="-120"/>
              </a:rPr>
              <a:t>Rollout plan — live in under one week</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B5E"/>
          </a:solidFill>
          <a:ln w="12700">
            <a:solidFill>
              <a:srgbClr val="0D2B5E"/>
            </a:solidFill>
            <a:prstDash val="solid"/>
          </a:ln>
        </p:spPr>
      </p:sp>
      <p:sp>
        <p:nvSpPr>
          <p:cNvPr id="3" name="Shape 1"/>
          <p:cNvSpPr/>
          <p:nvPr/>
        </p:nvSpPr>
        <p:spPr>
          <a:xfrm>
            <a:off x="365760" y="301752"/>
            <a:ext cx="822960" cy="310896"/>
          </a:xfrm>
          <a:prstGeom prst="roundRect">
            <a:avLst>
              <a:gd name="adj" fmla="val 14706"/>
            </a:avLst>
          </a:prstGeom>
          <a:solidFill>
            <a:srgbClr val="1E88E5"/>
          </a:solidFill>
          <a:ln w="12700">
            <a:solidFill>
              <a:srgbClr val="1E88E5"/>
            </a:solidFill>
            <a:prstDash val="solid"/>
          </a:ln>
        </p:spPr>
      </p:sp>
      <p:sp>
        <p:nvSpPr>
          <p:cNvPr id="4" name="Text 2"/>
          <p:cNvSpPr/>
          <p:nvPr/>
        </p:nvSpPr>
        <p:spPr>
          <a:xfrm>
            <a:off x="365760" y="3017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46888"/>
            <a:ext cx="7406640" cy="49377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Challenge — Manual Scrum Overhead</a:t>
            </a:r>
            <a:endParaRPr lang="en-US" sz="2400" dirty="0"/>
          </a:p>
        </p:txBody>
      </p:sp>
      <p:sp>
        <p:nvSpPr>
          <p:cNvPr id="6" name="Text 4"/>
          <p:cNvSpPr/>
          <p:nvPr/>
        </p:nvSpPr>
        <p:spPr>
          <a:xfrm>
            <a:off x="411480" y="1024128"/>
            <a:ext cx="8321040" cy="329184"/>
          </a:xfrm>
          <a:prstGeom prst="rect">
            <a:avLst/>
          </a:prstGeom>
          <a:noFill/>
          <a:ln/>
        </p:spPr>
        <p:txBody>
          <a:bodyPr wrap="square" rtlCol="0" anchor="ctr"/>
          <a:lstStyle/>
          <a:p>
            <a:pPr indent="0" marL="0">
              <a:buNone/>
            </a:pPr>
            <a:r>
              <a:rPr lang="en-US" sz="1300" i="1" dirty="0">
                <a:solidFill>
                  <a:srgbClr val="334E68"/>
                </a:solidFill>
                <a:latin typeface="Calibri" pitchFamily="34" charset="0"/>
                <a:ea typeface="Calibri" pitchFamily="34" charset="-122"/>
                <a:cs typeface="Calibri" pitchFamily="34" charset="-120"/>
              </a:rPr>
              <a:t>How much Scrum Master time is spent on admin vs. actual coaching?</a:t>
            </a:r>
            <a:endParaRPr lang="en-US" sz="1300" dirty="0"/>
          </a:p>
        </p:txBody>
      </p:sp>
      <p:sp>
        <p:nvSpPr>
          <p:cNvPr id="7" name="Shape 5"/>
          <p:cNvSpPr/>
          <p:nvPr/>
        </p:nvSpPr>
        <p:spPr>
          <a:xfrm>
            <a:off x="365760" y="1426464"/>
            <a:ext cx="4160520" cy="987552"/>
          </a:xfrm>
          <a:prstGeom prst="roundRect">
            <a:avLst>
              <a:gd name="adj" fmla="val 7407"/>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8" name="Text 6"/>
          <p:cNvSpPr/>
          <p:nvPr/>
        </p:nvSpPr>
        <p:spPr>
          <a:xfrm>
            <a:off x="457200" y="1700784"/>
            <a:ext cx="475488" cy="42062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9" name="Text 7"/>
          <p:cNvSpPr/>
          <p:nvPr/>
        </p:nvSpPr>
        <p:spPr>
          <a:xfrm>
            <a:off x="987552" y="1517904"/>
            <a:ext cx="2514600" cy="27432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Backlog Grooming</a:t>
            </a:r>
            <a:endParaRPr lang="en-US" sz="1200" dirty="0"/>
          </a:p>
        </p:txBody>
      </p:sp>
      <p:sp>
        <p:nvSpPr>
          <p:cNvPr id="10" name="Shape 8"/>
          <p:cNvSpPr/>
          <p:nvPr/>
        </p:nvSpPr>
        <p:spPr>
          <a:xfrm>
            <a:off x="3566160" y="1517904"/>
            <a:ext cx="868680" cy="256032"/>
          </a:xfrm>
          <a:prstGeom prst="roundRect">
            <a:avLst>
              <a:gd name="adj" fmla="val 14286"/>
            </a:avLst>
          </a:prstGeom>
          <a:solidFill>
            <a:srgbClr val="0D2B5E"/>
          </a:solidFill>
          <a:ln w="12700">
            <a:solidFill>
              <a:srgbClr val="0D2B5E"/>
            </a:solidFill>
            <a:prstDash val="solid"/>
          </a:ln>
        </p:spPr>
      </p:sp>
      <p:sp>
        <p:nvSpPr>
          <p:cNvPr id="11" name="Text 9"/>
          <p:cNvSpPr/>
          <p:nvPr/>
        </p:nvSpPr>
        <p:spPr>
          <a:xfrm>
            <a:off x="3566160" y="1517904"/>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rPr>
              <a:t>3–5 hrs</a:t>
            </a:r>
            <a:endParaRPr lang="en-US" sz="900" dirty="0"/>
          </a:p>
        </p:txBody>
      </p:sp>
      <p:sp>
        <p:nvSpPr>
          <p:cNvPr id="12" name="Text 10"/>
          <p:cNvSpPr/>
          <p:nvPr/>
        </p:nvSpPr>
        <p:spPr>
          <a:xfrm>
            <a:off x="987552" y="1847088"/>
            <a:ext cx="3447288" cy="457200"/>
          </a:xfrm>
          <a:prstGeom prst="rect">
            <a:avLst/>
          </a:prstGeom>
          <a:noFill/>
          <a:ln/>
        </p:spPr>
        <p:txBody>
          <a:bodyPr wrap="square" lIns="0" tIns="0" rIns="0" bIns="0" rtlCol="0" anchor="ctr"/>
          <a:lstStyle/>
          <a:p>
            <a:pPr indent="0" marL="0">
              <a:buNone/>
            </a:pPr>
            <a:r>
              <a:rPr lang="en-US" sz="950" dirty="0">
                <a:solidFill>
                  <a:srgbClr val="334E68"/>
                </a:solidFill>
                <a:latin typeface="Calibri" pitchFamily="34" charset="0"/>
                <a:ea typeface="Calibri" pitchFamily="34" charset="-122"/>
                <a:cs typeface="Calibri" pitchFamily="34" charset="-120"/>
              </a:rPr>
              <a:t>Rewriting vague stories, adding ACs one by one into ADO</a:t>
            </a:r>
            <a:endParaRPr lang="en-US" sz="950" dirty="0"/>
          </a:p>
        </p:txBody>
      </p:sp>
      <p:sp>
        <p:nvSpPr>
          <p:cNvPr id="13" name="Shape 11"/>
          <p:cNvSpPr/>
          <p:nvPr/>
        </p:nvSpPr>
        <p:spPr>
          <a:xfrm>
            <a:off x="365760" y="2523744"/>
            <a:ext cx="4160520" cy="987552"/>
          </a:xfrm>
          <a:prstGeom prst="roundRect">
            <a:avLst>
              <a:gd name="adj" fmla="val 7407"/>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14" name="Text 12"/>
          <p:cNvSpPr/>
          <p:nvPr/>
        </p:nvSpPr>
        <p:spPr>
          <a:xfrm>
            <a:off x="457200" y="2798064"/>
            <a:ext cx="475488" cy="42062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987552" y="2615184"/>
            <a:ext cx="2514600" cy="27432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Poker Planning</a:t>
            </a:r>
            <a:endParaRPr lang="en-US" sz="1200" dirty="0"/>
          </a:p>
        </p:txBody>
      </p:sp>
      <p:sp>
        <p:nvSpPr>
          <p:cNvPr id="16" name="Shape 14"/>
          <p:cNvSpPr/>
          <p:nvPr/>
        </p:nvSpPr>
        <p:spPr>
          <a:xfrm>
            <a:off x="3566160" y="2615184"/>
            <a:ext cx="868680" cy="256032"/>
          </a:xfrm>
          <a:prstGeom prst="roundRect">
            <a:avLst>
              <a:gd name="adj" fmla="val 14286"/>
            </a:avLst>
          </a:prstGeom>
          <a:solidFill>
            <a:srgbClr val="0D2B5E"/>
          </a:solidFill>
          <a:ln w="12700">
            <a:solidFill>
              <a:srgbClr val="0D2B5E"/>
            </a:solidFill>
            <a:prstDash val="solid"/>
          </a:ln>
        </p:spPr>
      </p:sp>
      <p:sp>
        <p:nvSpPr>
          <p:cNvPr id="17" name="Text 15"/>
          <p:cNvSpPr/>
          <p:nvPr/>
        </p:nvSpPr>
        <p:spPr>
          <a:xfrm>
            <a:off x="3566160" y="2615184"/>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rPr>
              <a:t>2–4 hrs</a:t>
            </a:r>
            <a:endParaRPr lang="en-US" sz="900" dirty="0"/>
          </a:p>
        </p:txBody>
      </p:sp>
      <p:sp>
        <p:nvSpPr>
          <p:cNvPr id="18" name="Text 16"/>
          <p:cNvSpPr/>
          <p:nvPr/>
        </p:nvSpPr>
        <p:spPr>
          <a:xfrm>
            <a:off x="987552" y="2944368"/>
            <a:ext cx="3447288" cy="457200"/>
          </a:xfrm>
          <a:prstGeom prst="rect">
            <a:avLst/>
          </a:prstGeom>
          <a:noFill/>
          <a:ln/>
        </p:spPr>
        <p:txBody>
          <a:bodyPr wrap="square" lIns="0" tIns="0" rIns="0" bIns="0" rtlCol="0" anchor="ctr"/>
          <a:lstStyle/>
          <a:p>
            <a:pPr indent="0" marL="0">
              <a:buNone/>
            </a:pPr>
            <a:r>
              <a:rPr lang="en-US" sz="950" dirty="0">
                <a:solidFill>
                  <a:srgbClr val="334E68"/>
                </a:solidFill>
                <a:latin typeface="Calibri" pitchFamily="34" charset="0"/>
                <a:ea typeface="Calibri" pitchFamily="34" charset="-122"/>
                <a:cs typeface="Calibri" pitchFamily="34" charset="-120"/>
              </a:rPr>
              <a:t>Running estimation sessions, recording results manually</a:t>
            </a:r>
            <a:endParaRPr lang="en-US" sz="950" dirty="0"/>
          </a:p>
        </p:txBody>
      </p:sp>
      <p:sp>
        <p:nvSpPr>
          <p:cNvPr id="19" name="Shape 17"/>
          <p:cNvSpPr/>
          <p:nvPr/>
        </p:nvSpPr>
        <p:spPr>
          <a:xfrm>
            <a:off x="365760" y="3621024"/>
            <a:ext cx="4160520" cy="987552"/>
          </a:xfrm>
          <a:prstGeom prst="roundRect">
            <a:avLst>
              <a:gd name="adj" fmla="val 7407"/>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20" name="Text 18"/>
          <p:cNvSpPr/>
          <p:nvPr/>
        </p:nvSpPr>
        <p:spPr>
          <a:xfrm>
            <a:off x="457200" y="3895344"/>
            <a:ext cx="475488" cy="42062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987552" y="3712464"/>
            <a:ext cx="2514600" cy="27432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Sprint Planning</a:t>
            </a:r>
            <a:endParaRPr lang="en-US" sz="1200" dirty="0"/>
          </a:p>
        </p:txBody>
      </p:sp>
      <p:sp>
        <p:nvSpPr>
          <p:cNvPr id="22" name="Shape 20"/>
          <p:cNvSpPr/>
          <p:nvPr/>
        </p:nvSpPr>
        <p:spPr>
          <a:xfrm>
            <a:off x="3566160" y="3712464"/>
            <a:ext cx="868680" cy="256032"/>
          </a:xfrm>
          <a:prstGeom prst="roundRect">
            <a:avLst>
              <a:gd name="adj" fmla="val 14286"/>
            </a:avLst>
          </a:prstGeom>
          <a:solidFill>
            <a:srgbClr val="0D2B5E"/>
          </a:solidFill>
          <a:ln w="12700">
            <a:solidFill>
              <a:srgbClr val="0D2B5E"/>
            </a:solidFill>
            <a:prstDash val="solid"/>
          </a:ln>
        </p:spPr>
      </p:sp>
      <p:sp>
        <p:nvSpPr>
          <p:cNvPr id="23" name="Text 21"/>
          <p:cNvSpPr/>
          <p:nvPr/>
        </p:nvSpPr>
        <p:spPr>
          <a:xfrm>
            <a:off x="3566160" y="3712464"/>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rPr>
              <a:t>4–6 hrs</a:t>
            </a:r>
            <a:endParaRPr lang="en-US" sz="900" dirty="0"/>
          </a:p>
        </p:txBody>
      </p:sp>
      <p:sp>
        <p:nvSpPr>
          <p:cNvPr id="24" name="Text 22"/>
          <p:cNvSpPr/>
          <p:nvPr/>
        </p:nvSpPr>
        <p:spPr>
          <a:xfrm>
            <a:off x="987552" y="4041648"/>
            <a:ext cx="3447288" cy="457200"/>
          </a:xfrm>
          <a:prstGeom prst="rect">
            <a:avLst/>
          </a:prstGeom>
          <a:noFill/>
          <a:ln/>
        </p:spPr>
        <p:txBody>
          <a:bodyPr wrap="square" lIns="0" tIns="0" rIns="0" bIns="0" rtlCol="0" anchor="ctr"/>
          <a:lstStyle/>
          <a:p>
            <a:pPr indent="0" marL="0">
              <a:buNone/>
            </a:pPr>
            <a:r>
              <a:rPr lang="en-US" sz="950" dirty="0">
                <a:solidFill>
                  <a:srgbClr val="334E68"/>
                </a:solidFill>
                <a:latin typeface="Calibri" pitchFamily="34" charset="0"/>
                <a:ea typeface="Calibri" pitchFamily="34" charset="-122"/>
                <a:cs typeface="Calibri" pitchFamily="34" charset="-120"/>
              </a:rPr>
              <a:t>Creating 5–7 child tasks per story by hand each sprint</a:t>
            </a:r>
            <a:endParaRPr lang="en-US" sz="950" dirty="0"/>
          </a:p>
        </p:txBody>
      </p:sp>
      <p:sp>
        <p:nvSpPr>
          <p:cNvPr id="25" name="Shape 23"/>
          <p:cNvSpPr/>
          <p:nvPr/>
        </p:nvSpPr>
        <p:spPr>
          <a:xfrm>
            <a:off x="4773168" y="1426464"/>
            <a:ext cx="4160520" cy="987552"/>
          </a:xfrm>
          <a:prstGeom prst="roundRect">
            <a:avLst>
              <a:gd name="adj" fmla="val 7407"/>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26" name="Text 24"/>
          <p:cNvSpPr/>
          <p:nvPr/>
        </p:nvSpPr>
        <p:spPr>
          <a:xfrm>
            <a:off x="4864608" y="1700784"/>
            <a:ext cx="475488" cy="42062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5394960" y="1517904"/>
            <a:ext cx="2514600" cy="27432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Daily Standups</a:t>
            </a:r>
            <a:endParaRPr lang="en-US" sz="1200" dirty="0"/>
          </a:p>
        </p:txBody>
      </p:sp>
      <p:sp>
        <p:nvSpPr>
          <p:cNvPr id="28" name="Shape 26"/>
          <p:cNvSpPr/>
          <p:nvPr/>
        </p:nvSpPr>
        <p:spPr>
          <a:xfrm>
            <a:off x="7973568" y="1517904"/>
            <a:ext cx="868680" cy="256032"/>
          </a:xfrm>
          <a:prstGeom prst="roundRect">
            <a:avLst>
              <a:gd name="adj" fmla="val 14286"/>
            </a:avLst>
          </a:prstGeom>
          <a:solidFill>
            <a:srgbClr val="0D2B5E"/>
          </a:solidFill>
          <a:ln w="12700">
            <a:solidFill>
              <a:srgbClr val="0D2B5E"/>
            </a:solidFill>
            <a:prstDash val="solid"/>
          </a:ln>
        </p:spPr>
      </p:sp>
      <p:sp>
        <p:nvSpPr>
          <p:cNvPr id="29" name="Text 27"/>
          <p:cNvSpPr/>
          <p:nvPr/>
        </p:nvSpPr>
        <p:spPr>
          <a:xfrm>
            <a:off x="7973568" y="1517904"/>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rPr>
              <a:t>1–2 hrs</a:t>
            </a:r>
            <a:endParaRPr lang="en-US" sz="900" dirty="0"/>
          </a:p>
        </p:txBody>
      </p:sp>
      <p:sp>
        <p:nvSpPr>
          <p:cNvPr id="30" name="Text 28"/>
          <p:cNvSpPr/>
          <p:nvPr/>
        </p:nvSpPr>
        <p:spPr>
          <a:xfrm>
            <a:off x="5394960" y="1847088"/>
            <a:ext cx="3447288" cy="457200"/>
          </a:xfrm>
          <a:prstGeom prst="rect">
            <a:avLst/>
          </a:prstGeom>
          <a:noFill/>
          <a:ln/>
        </p:spPr>
        <p:txBody>
          <a:bodyPr wrap="square" lIns="0" tIns="0" rIns="0" bIns="0" rtlCol="0" anchor="ctr"/>
          <a:lstStyle/>
          <a:p>
            <a:pPr indent="0" marL="0">
              <a:buNone/>
            </a:pPr>
            <a:r>
              <a:rPr lang="en-US" sz="950" dirty="0">
                <a:solidFill>
                  <a:srgbClr val="334E68"/>
                </a:solidFill>
                <a:latin typeface="Calibri" pitchFamily="34" charset="0"/>
                <a:ea typeface="Calibri" pitchFamily="34" charset="-122"/>
                <a:cs typeface="Calibri" pitchFamily="34" charset="-120"/>
              </a:rPr>
              <a:t>Pulling blocker data from ADO, summarising for Teams</a:t>
            </a:r>
            <a:endParaRPr lang="en-US" sz="950" dirty="0"/>
          </a:p>
        </p:txBody>
      </p:sp>
      <p:sp>
        <p:nvSpPr>
          <p:cNvPr id="31" name="Shape 29"/>
          <p:cNvSpPr/>
          <p:nvPr/>
        </p:nvSpPr>
        <p:spPr>
          <a:xfrm>
            <a:off x="4773168" y="2523744"/>
            <a:ext cx="4160520" cy="987552"/>
          </a:xfrm>
          <a:prstGeom prst="roundRect">
            <a:avLst>
              <a:gd name="adj" fmla="val 7407"/>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4864608" y="2798064"/>
            <a:ext cx="475488" cy="42062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3" name="Text 31"/>
          <p:cNvSpPr/>
          <p:nvPr/>
        </p:nvSpPr>
        <p:spPr>
          <a:xfrm>
            <a:off x="5394960" y="2615184"/>
            <a:ext cx="2514600" cy="27432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Retrospectives</a:t>
            </a:r>
            <a:endParaRPr lang="en-US" sz="1200" dirty="0"/>
          </a:p>
        </p:txBody>
      </p:sp>
      <p:sp>
        <p:nvSpPr>
          <p:cNvPr id="34" name="Shape 32"/>
          <p:cNvSpPr/>
          <p:nvPr/>
        </p:nvSpPr>
        <p:spPr>
          <a:xfrm>
            <a:off x="7973568" y="2615184"/>
            <a:ext cx="868680" cy="256032"/>
          </a:xfrm>
          <a:prstGeom prst="roundRect">
            <a:avLst>
              <a:gd name="adj" fmla="val 14286"/>
            </a:avLst>
          </a:prstGeom>
          <a:solidFill>
            <a:srgbClr val="0D2B5E"/>
          </a:solidFill>
          <a:ln w="12700">
            <a:solidFill>
              <a:srgbClr val="0D2B5E"/>
            </a:solidFill>
            <a:prstDash val="solid"/>
          </a:ln>
        </p:spPr>
      </p:sp>
      <p:sp>
        <p:nvSpPr>
          <p:cNvPr id="35" name="Text 33"/>
          <p:cNvSpPr/>
          <p:nvPr/>
        </p:nvSpPr>
        <p:spPr>
          <a:xfrm>
            <a:off x="7973568" y="2615184"/>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rPr>
              <a:t>2–3 hrs</a:t>
            </a:r>
            <a:endParaRPr lang="en-US" sz="900" dirty="0"/>
          </a:p>
        </p:txBody>
      </p:sp>
      <p:sp>
        <p:nvSpPr>
          <p:cNvPr id="36" name="Text 34"/>
          <p:cNvSpPr/>
          <p:nvPr/>
        </p:nvSpPr>
        <p:spPr>
          <a:xfrm>
            <a:off x="5394960" y="2944368"/>
            <a:ext cx="3447288" cy="457200"/>
          </a:xfrm>
          <a:prstGeom prst="rect">
            <a:avLst/>
          </a:prstGeom>
          <a:noFill/>
          <a:ln/>
        </p:spPr>
        <p:txBody>
          <a:bodyPr wrap="square" lIns="0" tIns="0" rIns="0" bIns="0" rtlCol="0" anchor="ctr"/>
          <a:lstStyle/>
          <a:p>
            <a:pPr indent="0" marL="0">
              <a:buNone/>
            </a:pPr>
            <a:r>
              <a:rPr lang="en-US" sz="950" dirty="0">
                <a:solidFill>
                  <a:srgbClr val="334E68"/>
                </a:solidFill>
                <a:latin typeface="Calibri" pitchFamily="34" charset="0"/>
                <a:ea typeface="Calibri" pitchFamily="34" charset="-122"/>
                <a:cs typeface="Calibri" pitchFamily="34" charset="-120"/>
              </a:rPr>
              <a:t>Collecting velocity data, writing reports, follow-up items</a:t>
            </a:r>
            <a:endParaRPr lang="en-US" sz="950" dirty="0"/>
          </a:p>
        </p:txBody>
      </p:sp>
      <p:sp>
        <p:nvSpPr>
          <p:cNvPr id="37" name="Shape 35"/>
          <p:cNvSpPr/>
          <p:nvPr/>
        </p:nvSpPr>
        <p:spPr>
          <a:xfrm>
            <a:off x="4773168" y="3621024"/>
            <a:ext cx="4160520" cy="987552"/>
          </a:xfrm>
          <a:prstGeom prst="roundRect">
            <a:avLst>
              <a:gd name="adj" fmla="val 7407"/>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38" name="Text 36"/>
          <p:cNvSpPr/>
          <p:nvPr/>
        </p:nvSpPr>
        <p:spPr>
          <a:xfrm>
            <a:off x="4864608" y="3895344"/>
            <a:ext cx="475488" cy="420624"/>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Text 37"/>
          <p:cNvSpPr/>
          <p:nvPr/>
        </p:nvSpPr>
        <p:spPr>
          <a:xfrm>
            <a:off x="5394960" y="3712464"/>
            <a:ext cx="2514600" cy="274320"/>
          </a:xfrm>
          <a:prstGeom prst="rect">
            <a:avLst/>
          </a:prstGeom>
          <a:noFill/>
          <a:ln/>
        </p:spPr>
        <p:txBody>
          <a:bodyPr wrap="square" lIns="0" tIns="0" rIns="0" bIns="0" rtlCol="0" anchor="ctr"/>
          <a:lstStyle/>
          <a:p>
            <a:pPr indent="0" marL="0">
              <a:buNone/>
            </a:pPr>
            <a:r>
              <a:rPr lang="en-US" sz="1200" b="1" dirty="0">
                <a:solidFill>
                  <a:srgbClr val="0D2B5E"/>
                </a:solidFill>
                <a:latin typeface="Calibri" pitchFamily="34" charset="0"/>
                <a:ea typeface="Calibri" pitchFamily="34" charset="-122"/>
                <a:cs typeface="Calibri" pitchFamily="34" charset="-120"/>
              </a:rPr>
              <a:t>Release Notes</a:t>
            </a:r>
            <a:endParaRPr lang="en-US" sz="1200" dirty="0"/>
          </a:p>
        </p:txBody>
      </p:sp>
      <p:sp>
        <p:nvSpPr>
          <p:cNvPr id="40" name="Shape 38"/>
          <p:cNvSpPr/>
          <p:nvPr/>
        </p:nvSpPr>
        <p:spPr>
          <a:xfrm>
            <a:off x="7973568" y="3712464"/>
            <a:ext cx="868680" cy="256032"/>
          </a:xfrm>
          <a:prstGeom prst="roundRect">
            <a:avLst>
              <a:gd name="adj" fmla="val 14286"/>
            </a:avLst>
          </a:prstGeom>
          <a:solidFill>
            <a:srgbClr val="0D2B5E"/>
          </a:solidFill>
          <a:ln w="12700">
            <a:solidFill>
              <a:srgbClr val="0D2B5E"/>
            </a:solidFill>
            <a:prstDash val="solid"/>
          </a:ln>
        </p:spPr>
      </p:sp>
      <p:sp>
        <p:nvSpPr>
          <p:cNvPr id="41" name="Text 39"/>
          <p:cNvSpPr/>
          <p:nvPr/>
        </p:nvSpPr>
        <p:spPr>
          <a:xfrm>
            <a:off x="7973568" y="3712464"/>
            <a:ext cx="868680" cy="256032"/>
          </a:xfrm>
          <a:prstGeom prst="rect">
            <a:avLst/>
          </a:prstGeom>
          <a:noFill/>
          <a:ln/>
        </p:spPr>
        <p:txBody>
          <a:bodyPr wrap="square" lIns="0" tIns="0" rIns="0" bIns="0" rtlCol="0" anchor="ctr"/>
          <a:lstStyle/>
          <a:p>
            <a:pPr algn="ctr" indent="0" marL="0">
              <a:buNone/>
            </a:pPr>
            <a:r>
              <a:rPr lang="en-US" sz="900" b="1" dirty="0">
                <a:solidFill>
                  <a:srgbClr val="FFFFFF"/>
                </a:solidFill>
              </a:rPr>
              <a:t>2–4 hrs</a:t>
            </a:r>
            <a:endParaRPr lang="en-US" sz="900" dirty="0"/>
          </a:p>
        </p:txBody>
      </p:sp>
      <p:sp>
        <p:nvSpPr>
          <p:cNvPr id="42" name="Text 40"/>
          <p:cNvSpPr/>
          <p:nvPr/>
        </p:nvSpPr>
        <p:spPr>
          <a:xfrm>
            <a:off x="5394960" y="4041648"/>
            <a:ext cx="3447288" cy="457200"/>
          </a:xfrm>
          <a:prstGeom prst="rect">
            <a:avLst/>
          </a:prstGeom>
          <a:noFill/>
          <a:ln/>
        </p:spPr>
        <p:txBody>
          <a:bodyPr wrap="square" lIns="0" tIns="0" rIns="0" bIns="0" rtlCol="0" anchor="ctr"/>
          <a:lstStyle/>
          <a:p>
            <a:pPr indent="0" marL="0">
              <a:buNone/>
            </a:pPr>
            <a:r>
              <a:rPr lang="en-US" sz="950" dirty="0">
                <a:solidFill>
                  <a:srgbClr val="334E68"/>
                </a:solidFill>
                <a:latin typeface="Calibri" pitchFamily="34" charset="0"/>
                <a:ea typeface="Calibri" pitchFamily="34" charset="-122"/>
                <a:cs typeface="Calibri" pitchFamily="34" charset="-120"/>
              </a:rPr>
              <a:t>Trawling ADO, grouping features, writing for stakeholders</a:t>
            </a:r>
            <a:endParaRPr lang="en-US" sz="950" dirty="0"/>
          </a:p>
        </p:txBody>
      </p:sp>
      <p:sp>
        <p:nvSpPr>
          <p:cNvPr id="43" name="Shape 41"/>
          <p:cNvSpPr/>
          <p:nvPr/>
        </p:nvSpPr>
        <p:spPr>
          <a:xfrm>
            <a:off x="0" y="4782312"/>
            <a:ext cx="9144000" cy="361188"/>
          </a:xfrm>
          <a:prstGeom prst="rect">
            <a:avLst/>
          </a:prstGeom>
          <a:solidFill>
            <a:srgbClr val="1565C0"/>
          </a:solidFill>
          <a:ln w="12700">
            <a:solidFill>
              <a:srgbClr val="1565C0"/>
            </a:solidFill>
            <a:prstDash val="solid"/>
          </a:ln>
        </p:spPr>
      </p:sp>
      <p:sp>
        <p:nvSpPr>
          <p:cNvPr id="44" name="Text 42"/>
          <p:cNvSpPr/>
          <p:nvPr/>
        </p:nvSpPr>
        <p:spPr>
          <a:xfrm>
            <a:off x="320040" y="4800600"/>
            <a:ext cx="850392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Total manual overhead: 14–24 hours per sprint — time not spent coaching, unblocking, or improving the team.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B5E"/>
        </a:solidFill>
      </p:bgPr>
    </p:bg>
    <p:spTree>
      <p:nvGrpSpPr>
        <p:cNvPr id="1" name=""/>
        <p:cNvGrpSpPr/>
        <p:nvPr/>
      </p:nvGrpSpPr>
      <p:grpSpPr>
        <a:xfrm>
          <a:off x="0" y="0"/>
          <a:ext cx="0" cy="0"/>
          <a:chOff x="0" y="0"/>
          <a:chExt cx="0" cy="0"/>
        </a:xfrm>
      </p:grpSpPr>
      <p:sp>
        <p:nvSpPr>
          <p:cNvPr id="2" name="Shape 0"/>
          <p:cNvSpPr/>
          <p:nvPr/>
        </p:nvSpPr>
        <p:spPr>
          <a:xfrm>
            <a:off x="6766560" y="3291840"/>
            <a:ext cx="3474720" cy="3474720"/>
          </a:xfrm>
          <a:prstGeom prst="ellipse">
            <a:avLst/>
          </a:prstGeom>
          <a:solidFill>
            <a:srgbClr val="1565C0">
              <a:alpha val="22000"/>
            </a:srgbClr>
          </a:solidFill>
          <a:ln w="12700">
            <a:solidFill>
              <a:srgbClr val="1565C0">
                <a:alpha val="22000"/>
              </a:srgbClr>
            </a:solidFill>
            <a:prstDash val="solid"/>
          </a:ln>
        </p:spPr>
      </p:sp>
      <p:sp>
        <p:nvSpPr>
          <p:cNvPr id="3" name="Shape 1"/>
          <p:cNvSpPr/>
          <p:nvPr/>
        </p:nvSpPr>
        <p:spPr>
          <a:xfrm>
            <a:off x="365760" y="274320"/>
            <a:ext cx="822960" cy="329184"/>
          </a:xfrm>
          <a:prstGeom prst="roundRect">
            <a:avLst>
              <a:gd name="adj" fmla="val 13889"/>
            </a:avLst>
          </a:prstGeom>
          <a:solidFill>
            <a:srgbClr val="1E88E5"/>
          </a:solidFill>
          <a:ln w="12700">
            <a:solidFill>
              <a:srgbClr val="1E88E5"/>
            </a:solidFill>
            <a:prstDash val="solid"/>
          </a:ln>
        </p:spPr>
      </p:sp>
      <p:sp>
        <p:nvSpPr>
          <p:cNvPr id="4" name="Text 2"/>
          <p:cNvSpPr/>
          <p:nvPr/>
        </p:nvSpPr>
        <p:spPr>
          <a:xfrm>
            <a:off x="365760" y="274320"/>
            <a:ext cx="822960" cy="329184"/>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37744"/>
            <a:ext cx="73152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Solution: @ScrumAgent</a:t>
            </a:r>
            <a:endParaRPr lang="en-US" sz="2600" dirty="0"/>
          </a:p>
        </p:txBody>
      </p:sp>
      <p:sp>
        <p:nvSpPr>
          <p:cNvPr id="6" name="Text 4"/>
          <p:cNvSpPr/>
          <p:nvPr/>
        </p:nvSpPr>
        <p:spPr>
          <a:xfrm>
            <a:off x="457200" y="868680"/>
            <a:ext cx="7772400" cy="329184"/>
          </a:xfrm>
          <a:prstGeom prst="rect">
            <a:avLst/>
          </a:prstGeom>
          <a:noFill/>
          <a:ln/>
        </p:spPr>
        <p:txBody>
          <a:bodyPr wrap="square" rtlCol="0" anchor="ctr"/>
          <a:lstStyle/>
          <a:p>
            <a:pPr indent="0" marL="0">
              <a:buNone/>
            </a:pPr>
            <a:r>
              <a:rPr lang="en-US" sz="1300" i="1" dirty="0">
                <a:solidFill>
                  <a:srgbClr val="E3F0FF"/>
                </a:solidFill>
                <a:latin typeface="Calibri" pitchFamily="34" charset="0"/>
                <a:ea typeface="Calibri" pitchFamily="34" charset="-122"/>
                <a:cs typeface="Calibri" pitchFamily="34" charset="-120"/>
              </a:rPr>
              <a:t>One AI agent. Six Scrum stages. Fully automated on Azure DevOps.</a:t>
            </a:r>
            <a:endParaRPr lang="en-US" sz="1300" dirty="0"/>
          </a:p>
        </p:txBody>
      </p:sp>
      <p:sp>
        <p:nvSpPr>
          <p:cNvPr id="7" name="Shape 5"/>
          <p:cNvSpPr/>
          <p:nvPr/>
        </p:nvSpPr>
        <p:spPr>
          <a:xfrm>
            <a:off x="365760" y="1325880"/>
            <a:ext cx="2011680" cy="1188720"/>
          </a:xfrm>
          <a:prstGeom prst="roundRect">
            <a:avLst>
              <a:gd name="adj" fmla="val 7692"/>
            </a:avLst>
          </a:prstGeom>
          <a:solidFill>
            <a:srgbClr val="1E88E5">
              <a:alpha val="82000"/>
            </a:srgbClr>
          </a:solidFill>
          <a:ln w="12700">
            <a:solidFill>
              <a:srgbClr val="1E88E5"/>
            </a:solidFill>
            <a:prstDash val="solid"/>
          </a:ln>
        </p:spPr>
      </p:sp>
      <p:sp>
        <p:nvSpPr>
          <p:cNvPr id="8" name="Text 6"/>
          <p:cNvSpPr/>
          <p:nvPr/>
        </p:nvSpPr>
        <p:spPr>
          <a:xfrm>
            <a:off x="365760" y="1389888"/>
            <a:ext cx="20116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VS Code</a:t>
            </a:r>
            <a:endParaRPr lang="en-US" sz="1100" dirty="0"/>
          </a:p>
        </p:txBody>
      </p:sp>
      <p:sp>
        <p:nvSpPr>
          <p:cNvPr id="9" name="Text 7"/>
          <p:cNvSpPr/>
          <p:nvPr/>
        </p:nvSpPr>
        <p:spPr>
          <a:xfrm>
            <a:off x="365760" y="1737360"/>
            <a:ext cx="2011680" cy="658368"/>
          </a:xfrm>
          <a:prstGeom prst="rect">
            <a:avLst/>
          </a:prstGeom>
          <a:noFill/>
          <a:ln/>
        </p:spPr>
        <p:txBody>
          <a:bodyPr wrap="square" lIns="0" tIns="0" rIns="0" bIns="0" rtlCol="0" anchor="ctr"/>
          <a:lstStyle/>
          <a:p>
            <a:pPr algn="ctr" indent="0" marL="0">
              <a:buNone/>
            </a:pPr>
            <a:r>
              <a:rPr lang="en-US" sz="900" dirty="0">
                <a:solidFill>
                  <a:srgbClr val="E3F0FF"/>
                </a:solidFill>
                <a:latin typeface="Calibri" pitchFamily="34" charset="0"/>
                <a:ea typeface="Calibri" pitchFamily="34" charset="-122"/>
                <a:cs typeface="Calibri" pitchFamily="34" charset="-120"/>
              </a:rPr>
              <a:t>Copilot Chat</a:t>
            </a:r>
            <a:endParaRPr lang="en-US" sz="900" dirty="0"/>
          </a:p>
          <a:p>
            <a:pPr algn="ctr" indent="0" marL="0">
              <a:buNone/>
            </a:pPr>
            <a:r>
              <a:rPr lang="en-US" sz="900" dirty="0">
                <a:solidFill>
                  <a:srgbClr val="E3F0FF"/>
                </a:solidFill>
                <a:latin typeface="Calibri" pitchFamily="34" charset="0"/>
                <a:ea typeface="Calibri" pitchFamily="34" charset="-122"/>
                <a:cs typeface="Calibri" pitchFamily="34" charset="-120"/>
              </a:rPr>
              <a:t>@ScrumAgent</a:t>
            </a:r>
            <a:endParaRPr lang="en-US" sz="900" dirty="0"/>
          </a:p>
        </p:txBody>
      </p:sp>
      <p:sp>
        <p:nvSpPr>
          <p:cNvPr id="10" name="Shape 8"/>
          <p:cNvSpPr/>
          <p:nvPr/>
        </p:nvSpPr>
        <p:spPr>
          <a:xfrm>
            <a:off x="2651760" y="1325880"/>
            <a:ext cx="2011680" cy="1188720"/>
          </a:xfrm>
          <a:prstGeom prst="roundRect">
            <a:avLst>
              <a:gd name="adj" fmla="val 7692"/>
            </a:avLst>
          </a:prstGeom>
          <a:solidFill>
            <a:srgbClr val="1565C0">
              <a:alpha val="82000"/>
            </a:srgbClr>
          </a:solidFill>
          <a:ln w="12700">
            <a:solidFill>
              <a:srgbClr val="1565C0"/>
            </a:solidFill>
            <a:prstDash val="solid"/>
          </a:ln>
        </p:spPr>
      </p:sp>
      <p:sp>
        <p:nvSpPr>
          <p:cNvPr id="11" name="Text 9"/>
          <p:cNvSpPr/>
          <p:nvPr/>
        </p:nvSpPr>
        <p:spPr>
          <a:xfrm>
            <a:off x="2651760" y="1389888"/>
            <a:ext cx="20116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GitHub Copilot</a:t>
            </a:r>
            <a:endParaRPr lang="en-US" sz="1100" dirty="0"/>
          </a:p>
        </p:txBody>
      </p:sp>
      <p:sp>
        <p:nvSpPr>
          <p:cNvPr id="12" name="Text 10"/>
          <p:cNvSpPr/>
          <p:nvPr/>
        </p:nvSpPr>
        <p:spPr>
          <a:xfrm>
            <a:off x="2651760" y="1737360"/>
            <a:ext cx="2011680" cy="658368"/>
          </a:xfrm>
          <a:prstGeom prst="rect">
            <a:avLst/>
          </a:prstGeom>
          <a:noFill/>
          <a:ln/>
        </p:spPr>
        <p:txBody>
          <a:bodyPr wrap="square" lIns="0" tIns="0" rIns="0" bIns="0" rtlCol="0" anchor="ctr"/>
          <a:lstStyle/>
          <a:p>
            <a:pPr algn="ctr" indent="0" marL="0">
              <a:buNone/>
            </a:pPr>
            <a:r>
              <a:rPr lang="en-US" sz="900" dirty="0">
                <a:solidFill>
                  <a:srgbClr val="E3F0FF"/>
                </a:solidFill>
                <a:latin typeface="Calibri" pitchFamily="34" charset="0"/>
                <a:ea typeface="Calibri" pitchFamily="34" charset="-122"/>
                <a:cs typeface="Calibri" pitchFamily="34" charset="-120"/>
              </a:rPr>
              <a:t>GPT-4o reasoning</a:t>
            </a:r>
            <a:endParaRPr lang="en-US" sz="900" dirty="0"/>
          </a:p>
          <a:p>
            <a:pPr algn="ctr" indent="0" marL="0">
              <a:buNone/>
            </a:pPr>
            <a:r>
              <a:rPr lang="en-US" sz="900" dirty="0">
                <a:solidFill>
                  <a:srgbClr val="E3F0FF"/>
                </a:solidFill>
                <a:latin typeface="Calibri" pitchFamily="34" charset="0"/>
                <a:ea typeface="Calibri" pitchFamily="34" charset="-122"/>
                <a:cs typeface="Calibri" pitchFamily="34" charset="-120"/>
              </a:rPr>
              <a:t>No extra key needed</a:t>
            </a:r>
            <a:endParaRPr lang="en-US" sz="900" dirty="0"/>
          </a:p>
        </p:txBody>
      </p:sp>
      <p:sp>
        <p:nvSpPr>
          <p:cNvPr id="13" name="Shape 11"/>
          <p:cNvSpPr/>
          <p:nvPr/>
        </p:nvSpPr>
        <p:spPr>
          <a:xfrm>
            <a:off x="4937760" y="1325880"/>
            <a:ext cx="2011680" cy="1188720"/>
          </a:xfrm>
          <a:prstGeom prst="roundRect">
            <a:avLst>
              <a:gd name="adj" fmla="val 7692"/>
            </a:avLst>
          </a:prstGeom>
          <a:solidFill>
            <a:srgbClr val="0D47A1">
              <a:alpha val="82000"/>
            </a:srgbClr>
          </a:solidFill>
          <a:ln w="12700">
            <a:solidFill>
              <a:srgbClr val="0D47A1"/>
            </a:solidFill>
            <a:prstDash val="solid"/>
          </a:ln>
        </p:spPr>
      </p:sp>
      <p:sp>
        <p:nvSpPr>
          <p:cNvPr id="14" name="Text 12"/>
          <p:cNvSpPr/>
          <p:nvPr/>
        </p:nvSpPr>
        <p:spPr>
          <a:xfrm>
            <a:off x="4937760" y="1389888"/>
            <a:ext cx="20116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Azure DevOps</a:t>
            </a:r>
            <a:endParaRPr lang="en-US" sz="1100" dirty="0"/>
          </a:p>
        </p:txBody>
      </p:sp>
      <p:sp>
        <p:nvSpPr>
          <p:cNvPr id="15" name="Text 13"/>
          <p:cNvSpPr/>
          <p:nvPr/>
        </p:nvSpPr>
        <p:spPr>
          <a:xfrm>
            <a:off x="4937760" y="1737360"/>
            <a:ext cx="2011680" cy="658368"/>
          </a:xfrm>
          <a:prstGeom prst="rect">
            <a:avLst/>
          </a:prstGeom>
          <a:noFill/>
          <a:ln/>
        </p:spPr>
        <p:txBody>
          <a:bodyPr wrap="square" lIns="0" tIns="0" rIns="0" bIns="0" rtlCol="0" anchor="ctr"/>
          <a:lstStyle/>
          <a:p>
            <a:pPr algn="ctr" indent="0" marL="0">
              <a:buNone/>
            </a:pPr>
            <a:r>
              <a:rPr lang="en-US" sz="900" dirty="0">
                <a:solidFill>
                  <a:srgbClr val="E3F0FF"/>
                </a:solidFill>
                <a:latin typeface="Calibri" pitchFamily="34" charset="0"/>
                <a:ea typeface="Calibri" pitchFamily="34" charset="-122"/>
                <a:cs typeface="Calibri" pitchFamily="34" charset="-120"/>
              </a:rPr>
              <a:t>Work Items, Sprints</a:t>
            </a:r>
            <a:endParaRPr lang="en-US" sz="900" dirty="0"/>
          </a:p>
          <a:p>
            <a:pPr algn="ctr" indent="0" marL="0">
              <a:buNone/>
            </a:pPr>
            <a:r>
              <a:rPr lang="en-US" sz="900" dirty="0">
                <a:solidFill>
                  <a:srgbClr val="E3F0FF"/>
                </a:solidFill>
                <a:latin typeface="Calibri" pitchFamily="34" charset="0"/>
                <a:ea typeface="Calibri" pitchFamily="34" charset="-122"/>
                <a:cs typeface="Calibri" pitchFamily="34" charset="-120"/>
              </a:rPr>
              <a:t>Test Plans, Wiki</a:t>
            </a:r>
            <a:endParaRPr lang="en-US" sz="900" dirty="0"/>
          </a:p>
        </p:txBody>
      </p:sp>
      <p:sp>
        <p:nvSpPr>
          <p:cNvPr id="16" name="Shape 14"/>
          <p:cNvSpPr/>
          <p:nvPr/>
        </p:nvSpPr>
        <p:spPr>
          <a:xfrm>
            <a:off x="7223760" y="1325880"/>
            <a:ext cx="2011680" cy="1188720"/>
          </a:xfrm>
          <a:prstGeom prst="roundRect">
            <a:avLst>
              <a:gd name="adj" fmla="val 7692"/>
            </a:avLst>
          </a:prstGeom>
          <a:solidFill>
            <a:srgbClr val="0A3D6B">
              <a:alpha val="82000"/>
            </a:srgbClr>
          </a:solidFill>
          <a:ln w="12700">
            <a:solidFill>
              <a:srgbClr val="0A3D6B"/>
            </a:solidFill>
            <a:prstDash val="solid"/>
          </a:ln>
        </p:spPr>
      </p:sp>
      <p:sp>
        <p:nvSpPr>
          <p:cNvPr id="17" name="Text 15"/>
          <p:cNvSpPr/>
          <p:nvPr/>
        </p:nvSpPr>
        <p:spPr>
          <a:xfrm>
            <a:off x="7223760" y="1389888"/>
            <a:ext cx="20116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Teams</a:t>
            </a:r>
            <a:endParaRPr lang="en-US" sz="1100" dirty="0"/>
          </a:p>
        </p:txBody>
      </p:sp>
      <p:sp>
        <p:nvSpPr>
          <p:cNvPr id="18" name="Text 16"/>
          <p:cNvSpPr/>
          <p:nvPr/>
        </p:nvSpPr>
        <p:spPr>
          <a:xfrm>
            <a:off x="7223760" y="1737360"/>
            <a:ext cx="2011680" cy="658368"/>
          </a:xfrm>
          <a:prstGeom prst="rect">
            <a:avLst/>
          </a:prstGeom>
          <a:noFill/>
          <a:ln/>
        </p:spPr>
        <p:txBody>
          <a:bodyPr wrap="square" lIns="0" tIns="0" rIns="0" bIns="0" rtlCol="0" anchor="ctr"/>
          <a:lstStyle/>
          <a:p>
            <a:pPr algn="ctr" indent="0" marL="0">
              <a:buNone/>
            </a:pPr>
            <a:r>
              <a:rPr lang="en-US" sz="900" dirty="0">
                <a:solidFill>
                  <a:srgbClr val="E3F0FF"/>
                </a:solidFill>
                <a:latin typeface="Calibri" pitchFamily="34" charset="0"/>
                <a:ea typeface="Calibri" pitchFamily="34" charset="-122"/>
                <a:cs typeface="Calibri" pitchFamily="34" charset="-120"/>
              </a:rPr>
              <a:t>Standup posts</a:t>
            </a:r>
            <a:endParaRPr lang="en-US" sz="900" dirty="0"/>
          </a:p>
          <a:p>
            <a:pPr algn="ctr" indent="0" marL="0">
              <a:buNone/>
            </a:pPr>
            <a:r>
              <a:rPr lang="en-US" sz="900" dirty="0">
                <a:solidFill>
                  <a:srgbClr val="E3F0FF"/>
                </a:solidFill>
                <a:latin typeface="Calibri" pitchFamily="34" charset="0"/>
                <a:ea typeface="Calibri" pitchFamily="34" charset="-122"/>
                <a:cs typeface="Calibri" pitchFamily="34" charset="-120"/>
              </a:rPr>
              <a:t>Stakeholder alerts</a:t>
            </a:r>
            <a:endParaRPr lang="en-US" sz="900" dirty="0"/>
          </a:p>
        </p:txBody>
      </p:sp>
      <p:sp>
        <p:nvSpPr>
          <p:cNvPr id="19" name="Shape 17"/>
          <p:cNvSpPr/>
          <p:nvPr/>
        </p:nvSpPr>
        <p:spPr>
          <a:xfrm>
            <a:off x="365760" y="2724912"/>
            <a:ext cx="4160520" cy="585216"/>
          </a:xfrm>
          <a:prstGeom prst="roundRect">
            <a:avLst>
              <a:gd name="adj" fmla="val 9375"/>
            </a:avLst>
          </a:prstGeom>
          <a:solidFill>
            <a:srgbClr val="FFFFFF">
              <a:alpha val="92000"/>
            </a:srgbClr>
          </a:solidFill>
          <a:ln w="12700">
            <a:solidFill>
              <a:srgbClr val="1E88E5">
                <a:alpha val="55000"/>
              </a:srgbClr>
            </a:solidFill>
            <a:prstDash val="solid"/>
          </a:ln>
        </p:spPr>
      </p:sp>
      <p:sp>
        <p:nvSpPr>
          <p:cNvPr id="20" name="Shape 18"/>
          <p:cNvSpPr/>
          <p:nvPr/>
        </p:nvSpPr>
        <p:spPr>
          <a:xfrm>
            <a:off x="438912" y="2816352"/>
            <a:ext cx="1874520" cy="384048"/>
          </a:xfrm>
          <a:prstGeom prst="roundRect">
            <a:avLst>
              <a:gd name="adj" fmla="val 11905"/>
            </a:avLst>
          </a:prstGeom>
          <a:solidFill>
            <a:srgbClr val="1565C0"/>
          </a:solidFill>
          <a:ln w="12700">
            <a:solidFill>
              <a:srgbClr val="1565C0"/>
            </a:solidFill>
            <a:prstDash val="solid"/>
          </a:ln>
        </p:spPr>
      </p:sp>
      <p:sp>
        <p:nvSpPr>
          <p:cNvPr id="21" name="Text 19"/>
          <p:cNvSpPr/>
          <p:nvPr/>
        </p:nvSpPr>
        <p:spPr>
          <a:xfrm>
            <a:off x="438912" y="2816352"/>
            <a:ext cx="18745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/BacklogRefinement</a:t>
            </a:r>
            <a:endParaRPr lang="en-US" sz="900" dirty="0"/>
          </a:p>
        </p:txBody>
      </p:sp>
      <p:sp>
        <p:nvSpPr>
          <p:cNvPr id="22" name="Text 20"/>
          <p:cNvSpPr/>
          <p:nvPr/>
        </p:nvSpPr>
        <p:spPr>
          <a:xfrm>
            <a:off x="2377440" y="2834640"/>
            <a:ext cx="2048256" cy="365760"/>
          </a:xfrm>
          <a:prstGeom prst="rect">
            <a:avLst/>
          </a:prstGeom>
          <a:noFill/>
          <a:ln/>
        </p:spPr>
        <p:txBody>
          <a:bodyPr wrap="square" lIns="0" tIns="0" rIns="0" bIns="0" rtlCol="0" anchor="ctr"/>
          <a:lstStyle/>
          <a:p>
            <a:pPr indent="0" marL="0">
              <a:buNone/>
            </a:pPr>
            <a:r>
              <a:rPr lang="en-US" sz="950" dirty="0">
                <a:solidFill>
                  <a:srgbClr val="E3F0FF"/>
                </a:solidFill>
                <a:latin typeface="Calibri" pitchFamily="34" charset="0"/>
                <a:ea typeface="Calibri" pitchFamily="34" charset="-122"/>
                <a:cs typeface="Calibri" pitchFamily="34" charset="-120"/>
              </a:rPr>
              <a:t>Rewrites stories + generates ACs</a:t>
            </a:r>
            <a:endParaRPr lang="en-US" sz="950" dirty="0"/>
          </a:p>
        </p:txBody>
      </p:sp>
      <p:sp>
        <p:nvSpPr>
          <p:cNvPr id="23" name="Shape 21"/>
          <p:cNvSpPr/>
          <p:nvPr/>
        </p:nvSpPr>
        <p:spPr>
          <a:xfrm>
            <a:off x="365760" y="3419856"/>
            <a:ext cx="4160520" cy="585216"/>
          </a:xfrm>
          <a:prstGeom prst="roundRect">
            <a:avLst>
              <a:gd name="adj" fmla="val 9375"/>
            </a:avLst>
          </a:prstGeom>
          <a:solidFill>
            <a:srgbClr val="FFFFFF">
              <a:alpha val="92000"/>
            </a:srgbClr>
          </a:solidFill>
          <a:ln w="12700">
            <a:solidFill>
              <a:srgbClr val="1E88E5">
                <a:alpha val="55000"/>
              </a:srgbClr>
            </a:solidFill>
            <a:prstDash val="solid"/>
          </a:ln>
        </p:spPr>
      </p:sp>
      <p:sp>
        <p:nvSpPr>
          <p:cNvPr id="24" name="Shape 22"/>
          <p:cNvSpPr/>
          <p:nvPr/>
        </p:nvSpPr>
        <p:spPr>
          <a:xfrm>
            <a:off x="438912" y="3511296"/>
            <a:ext cx="1874520" cy="384048"/>
          </a:xfrm>
          <a:prstGeom prst="roundRect">
            <a:avLst>
              <a:gd name="adj" fmla="val 11905"/>
            </a:avLst>
          </a:prstGeom>
          <a:solidFill>
            <a:srgbClr val="1565C0"/>
          </a:solidFill>
          <a:ln w="12700">
            <a:solidFill>
              <a:srgbClr val="1565C0"/>
            </a:solidFill>
            <a:prstDash val="solid"/>
          </a:ln>
        </p:spPr>
      </p:sp>
      <p:sp>
        <p:nvSpPr>
          <p:cNvPr id="25" name="Text 23"/>
          <p:cNvSpPr/>
          <p:nvPr/>
        </p:nvSpPr>
        <p:spPr>
          <a:xfrm>
            <a:off x="438912" y="3511296"/>
            <a:ext cx="18745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/PokerPlanning</a:t>
            </a:r>
            <a:endParaRPr lang="en-US" sz="900" dirty="0"/>
          </a:p>
        </p:txBody>
      </p:sp>
      <p:sp>
        <p:nvSpPr>
          <p:cNvPr id="26" name="Text 24"/>
          <p:cNvSpPr/>
          <p:nvPr/>
        </p:nvSpPr>
        <p:spPr>
          <a:xfrm>
            <a:off x="2377440" y="3529584"/>
            <a:ext cx="2048256" cy="365760"/>
          </a:xfrm>
          <a:prstGeom prst="rect">
            <a:avLst/>
          </a:prstGeom>
          <a:noFill/>
          <a:ln/>
        </p:spPr>
        <p:txBody>
          <a:bodyPr wrap="square" lIns="0" tIns="0" rIns="0" bIns="0" rtlCol="0" anchor="ctr"/>
          <a:lstStyle/>
          <a:p>
            <a:pPr indent="0" marL="0">
              <a:buNone/>
            </a:pPr>
            <a:r>
              <a:rPr lang="en-US" sz="950" dirty="0">
                <a:solidFill>
                  <a:srgbClr val="E3F0FF"/>
                </a:solidFill>
                <a:latin typeface="Calibri" pitchFamily="34" charset="0"/>
                <a:ea typeface="Calibri" pitchFamily="34" charset="-122"/>
                <a:cs typeface="Calibri" pitchFamily="34" charset="-120"/>
              </a:rPr>
              <a:t>Suggests story points + risk flags</a:t>
            </a:r>
            <a:endParaRPr lang="en-US" sz="950" dirty="0"/>
          </a:p>
        </p:txBody>
      </p:sp>
      <p:sp>
        <p:nvSpPr>
          <p:cNvPr id="27" name="Shape 25"/>
          <p:cNvSpPr/>
          <p:nvPr/>
        </p:nvSpPr>
        <p:spPr>
          <a:xfrm>
            <a:off x="365760" y="4114800"/>
            <a:ext cx="4160520" cy="585216"/>
          </a:xfrm>
          <a:prstGeom prst="roundRect">
            <a:avLst>
              <a:gd name="adj" fmla="val 9375"/>
            </a:avLst>
          </a:prstGeom>
          <a:solidFill>
            <a:srgbClr val="FFFFFF">
              <a:alpha val="92000"/>
            </a:srgbClr>
          </a:solidFill>
          <a:ln w="12700">
            <a:solidFill>
              <a:srgbClr val="1E88E5">
                <a:alpha val="55000"/>
              </a:srgbClr>
            </a:solidFill>
            <a:prstDash val="solid"/>
          </a:ln>
        </p:spPr>
      </p:sp>
      <p:sp>
        <p:nvSpPr>
          <p:cNvPr id="28" name="Shape 26"/>
          <p:cNvSpPr/>
          <p:nvPr/>
        </p:nvSpPr>
        <p:spPr>
          <a:xfrm>
            <a:off x="438912" y="4206240"/>
            <a:ext cx="1874520" cy="384048"/>
          </a:xfrm>
          <a:prstGeom prst="roundRect">
            <a:avLst>
              <a:gd name="adj" fmla="val 11905"/>
            </a:avLst>
          </a:prstGeom>
          <a:solidFill>
            <a:srgbClr val="1565C0"/>
          </a:solidFill>
          <a:ln w="12700">
            <a:solidFill>
              <a:srgbClr val="1565C0"/>
            </a:solidFill>
            <a:prstDash val="solid"/>
          </a:ln>
        </p:spPr>
      </p:sp>
      <p:sp>
        <p:nvSpPr>
          <p:cNvPr id="29" name="Text 27"/>
          <p:cNvSpPr/>
          <p:nvPr/>
        </p:nvSpPr>
        <p:spPr>
          <a:xfrm>
            <a:off x="438912" y="4206240"/>
            <a:ext cx="18745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/SprintPlanning</a:t>
            </a:r>
            <a:endParaRPr lang="en-US" sz="900" dirty="0"/>
          </a:p>
        </p:txBody>
      </p:sp>
      <p:sp>
        <p:nvSpPr>
          <p:cNvPr id="30" name="Text 28"/>
          <p:cNvSpPr/>
          <p:nvPr/>
        </p:nvSpPr>
        <p:spPr>
          <a:xfrm>
            <a:off x="2377440" y="4224528"/>
            <a:ext cx="2048256" cy="365760"/>
          </a:xfrm>
          <a:prstGeom prst="rect">
            <a:avLst/>
          </a:prstGeom>
          <a:noFill/>
          <a:ln/>
        </p:spPr>
        <p:txBody>
          <a:bodyPr wrap="square" lIns="0" tIns="0" rIns="0" bIns="0" rtlCol="0" anchor="ctr"/>
          <a:lstStyle/>
          <a:p>
            <a:pPr indent="0" marL="0">
              <a:buNone/>
            </a:pPr>
            <a:r>
              <a:rPr lang="en-US" sz="950" dirty="0">
                <a:solidFill>
                  <a:srgbClr val="E3F0FF"/>
                </a:solidFill>
                <a:latin typeface="Calibri" pitchFamily="34" charset="0"/>
                <a:ea typeface="Calibri" pitchFamily="34" charset="-122"/>
                <a:cs typeface="Calibri" pitchFamily="34" charset="-120"/>
              </a:rPr>
              <a:t>Assigns sprint + 7 SDLC child tasks</a:t>
            </a:r>
            <a:endParaRPr lang="en-US" sz="950" dirty="0"/>
          </a:p>
        </p:txBody>
      </p:sp>
      <p:sp>
        <p:nvSpPr>
          <p:cNvPr id="31" name="Shape 29"/>
          <p:cNvSpPr/>
          <p:nvPr/>
        </p:nvSpPr>
        <p:spPr>
          <a:xfrm>
            <a:off x="4773168" y="2724912"/>
            <a:ext cx="4160520" cy="585216"/>
          </a:xfrm>
          <a:prstGeom prst="roundRect">
            <a:avLst>
              <a:gd name="adj" fmla="val 9375"/>
            </a:avLst>
          </a:prstGeom>
          <a:solidFill>
            <a:srgbClr val="FFFFFF">
              <a:alpha val="92000"/>
            </a:srgbClr>
          </a:solidFill>
          <a:ln w="12700">
            <a:solidFill>
              <a:srgbClr val="1E88E5">
                <a:alpha val="55000"/>
              </a:srgbClr>
            </a:solidFill>
            <a:prstDash val="solid"/>
          </a:ln>
        </p:spPr>
      </p:sp>
      <p:sp>
        <p:nvSpPr>
          <p:cNvPr id="32" name="Shape 30"/>
          <p:cNvSpPr/>
          <p:nvPr/>
        </p:nvSpPr>
        <p:spPr>
          <a:xfrm>
            <a:off x="4846320" y="2816352"/>
            <a:ext cx="1874520" cy="384048"/>
          </a:xfrm>
          <a:prstGeom prst="roundRect">
            <a:avLst>
              <a:gd name="adj" fmla="val 11905"/>
            </a:avLst>
          </a:prstGeom>
          <a:solidFill>
            <a:srgbClr val="1565C0"/>
          </a:solidFill>
          <a:ln w="12700">
            <a:solidFill>
              <a:srgbClr val="1565C0"/>
            </a:solidFill>
            <a:prstDash val="solid"/>
          </a:ln>
        </p:spPr>
      </p:sp>
      <p:sp>
        <p:nvSpPr>
          <p:cNvPr id="33" name="Text 31"/>
          <p:cNvSpPr/>
          <p:nvPr/>
        </p:nvSpPr>
        <p:spPr>
          <a:xfrm>
            <a:off x="4846320" y="2816352"/>
            <a:ext cx="18745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/DailyScrum</a:t>
            </a:r>
            <a:endParaRPr lang="en-US" sz="900" dirty="0"/>
          </a:p>
        </p:txBody>
      </p:sp>
      <p:sp>
        <p:nvSpPr>
          <p:cNvPr id="34" name="Text 32"/>
          <p:cNvSpPr/>
          <p:nvPr/>
        </p:nvSpPr>
        <p:spPr>
          <a:xfrm>
            <a:off x="6784848" y="2834640"/>
            <a:ext cx="2048256" cy="365760"/>
          </a:xfrm>
          <a:prstGeom prst="rect">
            <a:avLst/>
          </a:prstGeom>
          <a:noFill/>
          <a:ln/>
        </p:spPr>
        <p:txBody>
          <a:bodyPr wrap="square" lIns="0" tIns="0" rIns="0" bIns="0" rtlCol="0" anchor="ctr"/>
          <a:lstStyle/>
          <a:p>
            <a:pPr indent="0" marL="0">
              <a:buNone/>
            </a:pPr>
            <a:r>
              <a:rPr lang="en-US" sz="950" dirty="0">
                <a:solidFill>
                  <a:srgbClr val="E3F0FF"/>
                </a:solidFill>
                <a:latin typeface="Calibri" pitchFamily="34" charset="0"/>
                <a:ea typeface="Calibri" pitchFamily="34" charset="-122"/>
                <a:cs typeface="Calibri" pitchFamily="34" charset="-120"/>
              </a:rPr>
              <a:t>Standup summary + blocker alerts</a:t>
            </a:r>
            <a:endParaRPr lang="en-US" sz="950" dirty="0"/>
          </a:p>
        </p:txBody>
      </p:sp>
      <p:sp>
        <p:nvSpPr>
          <p:cNvPr id="35" name="Shape 33"/>
          <p:cNvSpPr/>
          <p:nvPr/>
        </p:nvSpPr>
        <p:spPr>
          <a:xfrm>
            <a:off x="4773168" y="3419856"/>
            <a:ext cx="4160520" cy="585216"/>
          </a:xfrm>
          <a:prstGeom prst="roundRect">
            <a:avLst>
              <a:gd name="adj" fmla="val 9375"/>
            </a:avLst>
          </a:prstGeom>
          <a:solidFill>
            <a:srgbClr val="FFFFFF">
              <a:alpha val="92000"/>
            </a:srgbClr>
          </a:solidFill>
          <a:ln w="12700">
            <a:solidFill>
              <a:srgbClr val="1E88E5">
                <a:alpha val="55000"/>
              </a:srgbClr>
            </a:solidFill>
            <a:prstDash val="solid"/>
          </a:ln>
        </p:spPr>
      </p:sp>
      <p:sp>
        <p:nvSpPr>
          <p:cNvPr id="36" name="Shape 34"/>
          <p:cNvSpPr/>
          <p:nvPr/>
        </p:nvSpPr>
        <p:spPr>
          <a:xfrm>
            <a:off x="4846320" y="3511296"/>
            <a:ext cx="1874520" cy="384048"/>
          </a:xfrm>
          <a:prstGeom prst="roundRect">
            <a:avLst>
              <a:gd name="adj" fmla="val 11905"/>
            </a:avLst>
          </a:prstGeom>
          <a:solidFill>
            <a:srgbClr val="1565C0"/>
          </a:solidFill>
          <a:ln w="12700">
            <a:solidFill>
              <a:srgbClr val="1565C0"/>
            </a:solidFill>
            <a:prstDash val="solid"/>
          </a:ln>
        </p:spPr>
      </p:sp>
      <p:sp>
        <p:nvSpPr>
          <p:cNvPr id="37" name="Text 35"/>
          <p:cNvSpPr/>
          <p:nvPr/>
        </p:nvSpPr>
        <p:spPr>
          <a:xfrm>
            <a:off x="4846320" y="3511296"/>
            <a:ext cx="18745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/Retrospective</a:t>
            </a:r>
            <a:endParaRPr lang="en-US" sz="900" dirty="0"/>
          </a:p>
        </p:txBody>
      </p:sp>
      <p:sp>
        <p:nvSpPr>
          <p:cNvPr id="38" name="Text 36"/>
          <p:cNvSpPr/>
          <p:nvPr/>
        </p:nvSpPr>
        <p:spPr>
          <a:xfrm>
            <a:off x="6784848" y="3529584"/>
            <a:ext cx="2048256" cy="365760"/>
          </a:xfrm>
          <a:prstGeom prst="rect">
            <a:avLst/>
          </a:prstGeom>
          <a:noFill/>
          <a:ln/>
        </p:spPr>
        <p:txBody>
          <a:bodyPr wrap="square" lIns="0" tIns="0" rIns="0" bIns="0" rtlCol="0" anchor="ctr"/>
          <a:lstStyle/>
          <a:p>
            <a:pPr indent="0" marL="0">
              <a:buNone/>
            </a:pPr>
            <a:r>
              <a:rPr lang="en-US" sz="950" dirty="0">
                <a:solidFill>
                  <a:srgbClr val="E3F0FF"/>
                </a:solidFill>
                <a:latin typeface="Calibri" pitchFamily="34" charset="0"/>
                <a:ea typeface="Calibri" pitchFamily="34" charset="-122"/>
                <a:cs typeface="Calibri" pitchFamily="34" charset="-120"/>
              </a:rPr>
              <a:t>Velocity analysis + action items</a:t>
            </a:r>
            <a:endParaRPr lang="en-US" sz="950" dirty="0"/>
          </a:p>
        </p:txBody>
      </p:sp>
      <p:sp>
        <p:nvSpPr>
          <p:cNvPr id="39" name="Shape 37"/>
          <p:cNvSpPr/>
          <p:nvPr/>
        </p:nvSpPr>
        <p:spPr>
          <a:xfrm>
            <a:off x="4773168" y="4114800"/>
            <a:ext cx="4160520" cy="585216"/>
          </a:xfrm>
          <a:prstGeom prst="roundRect">
            <a:avLst>
              <a:gd name="adj" fmla="val 9375"/>
            </a:avLst>
          </a:prstGeom>
          <a:solidFill>
            <a:srgbClr val="FFFFFF">
              <a:alpha val="92000"/>
            </a:srgbClr>
          </a:solidFill>
          <a:ln w="12700">
            <a:solidFill>
              <a:srgbClr val="1E88E5">
                <a:alpha val="55000"/>
              </a:srgbClr>
            </a:solidFill>
            <a:prstDash val="solid"/>
          </a:ln>
        </p:spPr>
      </p:sp>
      <p:sp>
        <p:nvSpPr>
          <p:cNvPr id="40" name="Shape 38"/>
          <p:cNvSpPr/>
          <p:nvPr/>
        </p:nvSpPr>
        <p:spPr>
          <a:xfrm>
            <a:off x="4846320" y="4206240"/>
            <a:ext cx="1874520" cy="384048"/>
          </a:xfrm>
          <a:prstGeom prst="roundRect">
            <a:avLst>
              <a:gd name="adj" fmla="val 11905"/>
            </a:avLst>
          </a:prstGeom>
          <a:solidFill>
            <a:srgbClr val="1565C0"/>
          </a:solidFill>
          <a:ln w="12700">
            <a:solidFill>
              <a:srgbClr val="1565C0"/>
            </a:solidFill>
            <a:prstDash val="solid"/>
          </a:ln>
        </p:spPr>
      </p:sp>
      <p:sp>
        <p:nvSpPr>
          <p:cNvPr id="41" name="Text 39"/>
          <p:cNvSpPr/>
          <p:nvPr/>
        </p:nvSpPr>
        <p:spPr>
          <a:xfrm>
            <a:off x="4846320" y="4206240"/>
            <a:ext cx="187452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/ReleaseNotes</a:t>
            </a:r>
            <a:endParaRPr lang="en-US" sz="900" dirty="0"/>
          </a:p>
        </p:txBody>
      </p:sp>
      <p:sp>
        <p:nvSpPr>
          <p:cNvPr id="42" name="Text 40"/>
          <p:cNvSpPr/>
          <p:nvPr/>
        </p:nvSpPr>
        <p:spPr>
          <a:xfrm>
            <a:off x="6784848" y="4224528"/>
            <a:ext cx="2048256" cy="365760"/>
          </a:xfrm>
          <a:prstGeom prst="rect">
            <a:avLst/>
          </a:prstGeom>
          <a:noFill/>
          <a:ln/>
        </p:spPr>
        <p:txBody>
          <a:bodyPr wrap="square" lIns="0" tIns="0" rIns="0" bIns="0" rtlCol="0" anchor="ctr"/>
          <a:lstStyle/>
          <a:p>
            <a:pPr indent="0" marL="0">
              <a:buNone/>
            </a:pPr>
            <a:r>
              <a:rPr lang="en-US" sz="950" dirty="0">
                <a:solidFill>
                  <a:srgbClr val="E3F0FF"/>
                </a:solidFill>
                <a:latin typeface="Calibri" pitchFamily="34" charset="0"/>
                <a:ea typeface="Calibri" pitchFamily="34" charset="-122"/>
                <a:cs typeface="Calibri" pitchFamily="34" charset="-120"/>
              </a:rPr>
              <a:t>Stakeholder-ready release notes</a:t>
            </a:r>
            <a:endParaRPr lang="en-US" sz="950" dirty="0"/>
          </a:p>
        </p:txBody>
      </p:sp>
      <p:sp>
        <p:nvSpPr>
          <p:cNvPr id="43" name="Shape 41"/>
          <p:cNvSpPr/>
          <p:nvPr/>
        </p:nvSpPr>
        <p:spPr>
          <a:xfrm>
            <a:off x="0" y="4782312"/>
            <a:ext cx="9144000" cy="361188"/>
          </a:xfrm>
          <a:prstGeom prst="rect">
            <a:avLst/>
          </a:prstGeom>
          <a:solidFill>
            <a:srgbClr val="1565C0"/>
          </a:solidFill>
          <a:ln w="12700">
            <a:solidFill>
              <a:srgbClr val="1565C0"/>
            </a:solidFill>
            <a:prstDash val="solid"/>
          </a:ln>
        </p:spPr>
      </p:sp>
      <p:sp>
        <p:nvSpPr>
          <p:cNvPr id="44" name="Text 42"/>
          <p:cNvSpPr/>
          <p:nvPr/>
        </p:nvSpPr>
        <p:spPr>
          <a:xfrm>
            <a:off x="320040" y="4809744"/>
            <a:ext cx="8503920" cy="31089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Type  @ScrumAgent /  in Copilot Chat  →  Tab autocomplete  →  instant action on your Azure DevOps sprint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B5E"/>
          </a:solidFill>
          <a:ln w="12700">
            <a:solidFill>
              <a:srgbClr val="0D2B5E"/>
            </a:solidFill>
            <a:prstDash val="solid"/>
          </a:ln>
        </p:spPr>
      </p:sp>
      <p:sp>
        <p:nvSpPr>
          <p:cNvPr id="3" name="Shape 1"/>
          <p:cNvSpPr/>
          <p:nvPr/>
        </p:nvSpPr>
        <p:spPr>
          <a:xfrm>
            <a:off x="365760" y="301752"/>
            <a:ext cx="822960" cy="310896"/>
          </a:xfrm>
          <a:prstGeom prst="roundRect">
            <a:avLst>
              <a:gd name="adj" fmla="val 14706"/>
            </a:avLst>
          </a:prstGeom>
          <a:solidFill>
            <a:srgbClr val="1E88E5"/>
          </a:solidFill>
          <a:ln w="12700">
            <a:solidFill>
              <a:srgbClr val="1E88E5"/>
            </a:solidFill>
            <a:prstDash val="solid"/>
          </a:ln>
        </p:spPr>
      </p:sp>
      <p:sp>
        <p:nvSpPr>
          <p:cNvPr id="4" name="Text 2"/>
          <p:cNvSpPr/>
          <p:nvPr/>
        </p:nvSpPr>
        <p:spPr>
          <a:xfrm>
            <a:off x="365760" y="3017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46888"/>
            <a:ext cx="7406640" cy="49377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End-to-End Scrum Automation Flow</a:t>
            </a:r>
            <a:endParaRPr lang="en-US" sz="2400" dirty="0"/>
          </a:p>
        </p:txBody>
      </p:sp>
      <p:sp>
        <p:nvSpPr>
          <p:cNvPr id="6" name="Text 4"/>
          <p:cNvSpPr/>
          <p:nvPr/>
        </p:nvSpPr>
        <p:spPr>
          <a:xfrm>
            <a:off x="365760" y="1005840"/>
            <a:ext cx="8412480" cy="274320"/>
          </a:xfrm>
          <a:prstGeom prst="rect">
            <a:avLst/>
          </a:prstGeom>
          <a:noFill/>
          <a:ln/>
        </p:spPr>
        <p:txBody>
          <a:bodyPr wrap="square" rtlCol="0" anchor="ctr"/>
          <a:lstStyle/>
          <a:p>
            <a:pPr indent="0" marL="0">
              <a:buNone/>
            </a:pPr>
            <a:r>
              <a:rPr lang="en-US" sz="1100" i="1" dirty="0">
                <a:solidFill>
                  <a:srgbClr val="5B7FA6"/>
                </a:solidFill>
                <a:latin typeface="Calibri" pitchFamily="34" charset="0"/>
                <a:ea typeface="Calibri" pitchFamily="34" charset="-122"/>
                <a:cs typeface="Calibri" pitchFamily="34" charset="-120"/>
              </a:rPr>
              <a:t>Every stage of the Scrum cycle — mapped to an AI Agent and an Azure DevOps API action</a:t>
            </a:r>
            <a:endParaRPr lang="en-US" sz="1100" dirty="0"/>
          </a:p>
        </p:txBody>
      </p:sp>
      <p:pic>
        <p:nvPicPr>
          <p:cNvPr id="7" name="Image 0" descr="C:\Users\user\AppData\Local\Packages\Claude_pzs8sxrjxfjjc\LocalCache\Roaming\Claude\local-agent-mode-sessions\skills-plugin\e7052684-dbf7-45cc-a2b0-793b4242339e\996c4759-65ad-49cd-8c05-7382f1384753\skills\pptx\diagram.png">    </p:cNvPr>
          <p:cNvPicPr>
            <a:picLocks noChangeAspect="1"/>
          </p:cNvPicPr>
          <p:nvPr/>
        </p:nvPicPr>
        <p:blipFill>
          <a:blip r:embed="rId1"/>
          <a:srcRect l="0" r="0" t="0" b="0"/>
          <a:stretch/>
        </p:blipFill>
        <p:spPr>
          <a:xfrm>
            <a:off x="182880" y="1298448"/>
            <a:ext cx="8778240" cy="3611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B5E"/>
          </a:solidFill>
          <a:ln w="12700">
            <a:solidFill>
              <a:srgbClr val="0D2B5E"/>
            </a:solidFill>
            <a:prstDash val="solid"/>
          </a:ln>
        </p:spPr>
      </p:sp>
      <p:sp>
        <p:nvSpPr>
          <p:cNvPr id="3" name="Shape 1"/>
          <p:cNvSpPr/>
          <p:nvPr/>
        </p:nvSpPr>
        <p:spPr>
          <a:xfrm>
            <a:off x="365760" y="301752"/>
            <a:ext cx="822960" cy="310896"/>
          </a:xfrm>
          <a:prstGeom prst="roundRect">
            <a:avLst>
              <a:gd name="adj" fmla="val 14706"/>
            </a:avLst>
          </a:prstGeom>
          <a:solidFill>
            <a:srgbClr val="1E88E5"/>
          </a:solidFill>
          <a:ln w="12700">
            <a:solidFill>
              <a:srgbClr val="1E88E5"/>
            </a:solidFill>
            <a:prstDash val="solid"/>
          </a:ln>
        </p:spPr>
      </p:sp>
      <p:sp>
        <p:nvSpPr>
          <p:cNvPr id="4" name="Text 2"/>
          <p:cNvSpPr/>
          <p:nvPr/>
        </p:nvSpPr>
        <p:spPr>
          <a:xfrm>
            <a:off x="365760" y="3017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46888"/>
            <a:ext cx="7406640" cy="49377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Sprint Planning: SDLC Task Auto-Generation</a:t>
            </a:r>
            <a:endParaRPr lang="en-US" sz="2400" dirty="0"/>
          </a:p>
        </p:txBody>
      </p:sp>
      <p:sp>
        <p:nvSpPr>
          <p:cNvPr id="6" name="Shape 4"/>
          <p:cNvSpPr/>
          <p:nvPr/>
        </p:nvSpPr>
        <p:spPr>
          <a:xfrm>
            <a:off x="274320" y="1078992"/>
            <a:ext cx="2560320" cy="3291840"/>
          </a:xfrm>
          <a:prstGeom prst="roundRect">
            <a:avLst>
              <a:gd name="adj" fmla="val 3571"/>
            </a:avLst>
          </a:prstGeom>
          <a:solidFill>
            <a:srgbClr val="E3F0FF"/>
          </a:solidFill>
          <a:ln w="12700">
            <a:solidFill>
              <a:srgbClr val="1E88E5"/>
            </a:solidFill>
            <a:prstDash val="solid"/>
          </a:ln>
          <a:effectLst>
            <a:outerShdw sx="100000" sy="100000" kx="0" ky="0" algn="bl" rotWithShape="0" blurRad="101600" dist="38100" dir="2700000">
              <a:srgbClr val="000000">
                <a:alpha val="10000"/>
              </a:srgbClr>
            </a:outerShdw>
          </a:effectLst>
        </p:spPr>
      </p:sp>
      <p:sp>
        <p:nvSpPr>
          <p:cNvPr id="7" name="Text 5"/>
          <p:cNvSpPr/>
          <p:nvPr/>
        </p:nvSpPr>
        <p:spPr>
          <a:xfrm>
            <a:off x="274320" y="1115568"/>
            <a:ext cx="2560320" cy="347472"/>
          </a:xfrm>
          <a:prstGeom prst="rect">
            <a:avLst/>
          </a:prstGeom>
          <a:noFill/>
          <a:ln/>
        </p:spPr>
        <p:txBody>
          <a:bodyPr wrap="square" lIns="0" tIns="0" rIns="0" bIns="0" rtlCol="0" anchor="ctr"/>
          <a:lstStyle/>
          <a:p>
            <a:pPr algn="ctr" indent="0" marL="0">
              <a:buNone/>
            </a:pPr>
            <a:r>
              <a:rPr lang="en-US" sz="1200" b="1" dirty="0">
                <a:solidFill>
                  <a:srgbClr val="0D2B5E"/>
                </a:solidFill>
                <a:latin typeface="Calibri" pitchFamily="34" charset="0"/>
                <a:ea typeface="Calibri" pitchFamily="34" charset="-122"/>
                <a:cs typeface="Calibri" pitchFamily="34" charset="-120"/>
              </a:rPr>
              <a:t>User Story</a:t>
            </a:r>
            <a:endParaRPr lang="en-US" sz="1200" dirty="0"/>
          </a:p>
        </p:txBody>
      </p:sp>
      <p:sp>
        <p:nvSpPr>
          <p:cNvPr id="8" name="Shape 6"/>
          <p:cNvSpPr/>
          <p:nvPr/>
        </p:nvSpPr>
        <p:spPr>
          <a:xfrm>
            <a:off x="411480" y="1481328"/>
            <a:ext cx="2286000" cy="0"/>
          </a:xfrm>
          <a:prstGeom prst="line">
            <a:avLst/>
          </a:prstGeom>
          <a:noFill/>
          <a:ln w="12700">
            <a:solidFill>
              <a:srgbClr val="DBEAFE"/>
            </a:solidFill>
            <a:prstDash val="solid"/>
          </a:ln>
        </p:spPr>
      </p:sp>
      <p:sp>
        <p:nvSpPr>
          <p:cNvPr id="9" name="Text 7"/>
          <p:cNvSpPr/>
          <p:nvPr/>
        </p:nvSpPr>
        <p:spPr>
          <a:xfrm>
            <a:off x="384048" y="1572768"/>
            <a:ext cx="2359152" cy="201168"/>
          </a:xfrm>
          <a:prstGeom prst="rect">
            <a:avLst/>
          </a:prstGeom>
          <a:noFill/>
          <a:ln/>
        </p:spPr>
        <p:txBody>
          <a:bodyPr wrap="square" lIns="0" tIns="0" rIns="0" bIns="0" rtlCol="0" anchor="ctr"/>
          <a:lstStyle/>
          <a:p>
            <a:pPr indent="0" marL="0">
              <a:buNone/>
            </a:pPr>
            <a:r>
              <a:rPr lang="en-US" sz="900" b="1" dirty="0">
                <a:solidFill>
                  <a:srgbClr val="1E88E5"/>
                </a:solidFill>
                <a:latin typeface="Calibri" pitchFamily="34" charset="0"/>
                <a:ea typeface="Calibri" pitchFamily="34" charset="-122"/>
                <a:cs typeface="Calibri" pitchFamily="34" charset="-120"/>
              </a:rPr>
              <a:t>Title</a:t>
            </a:r>
            <a:endParaRPr lang="en-US" sz="900" dirty="0"/>
          </a:p>
        </p:txBody>
      </p:sp>
      <p:sp>
        <p:nvSpPr>
          <p:cNvPr id="10" name="Text 8"/>
          <p:cNvSpPr/>
          <p:nvPr/>
        </p:nvSpPr>
        <p:spPr>
          <a:xfrm>
            <a:off x="384048" y="1773936"/>
            <a:ext cx="2359152" cy="256032"/>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Patient Login with MFA</a:t>
            </a:r>
            <a:endParaRPr lang="en-US" sz="950" dirty="0"/>
          </a:p>
        </p:txBody>
      </p:sp>
      <p:sp>
        <p:nvSpPr>
          <p:cNvPr id="11" name="Text 9"/>
          <p:cNvSpPr/>
          <p:nvPr/>
        </p:nvSpPr>
        <p:spPr>
          <a:xfrm>
            <a:off x="384048" y="2121408"/>
            <a:ext cx="2359152" cy="201168"/>
          </a:xfrm>
          <a:prstGeom prst="rect">
            <a:avLst/>
          </a:prstGeom>
          <a:noFill/>
          <a:ln/>
        </p:spPr>
        <p:txBody>
          <a:bodyPr wrap="square" lIns="0" tIns="0" rIns="0" bIns="0" rtlCol="0" anchor="ctr"/>
          <a:lstStyle/>
          <a:p>
            <a:pPr indent="0" marL="0">
              <a:buNone/>
            </a:pPr>
            <a:r>
              <a:rPr lang="en-US" sz="900" b="1" dirty="0">
                <a:solidFill>
                  <a:srgbClr val="1E88E5"/>
                </a:solidFill>
                <a:latin typeface="Calibri" pitchFamily="34" charset="0"/>
                <a:ea typeface="Calibri" pitchFamily="34" charset="-122"/>
                <a:cs typeface="Calibri" pitchFamily="34" charset="-120"/>
              </a:rPr>
              <a:t>Description</a:t>
            </a:r>
            <a:endParaRPr lang="en-US" sz="900" dirty="0"/>
          </a:p>
        </p:txBody>
      </p:sp>
      <p:sp>
        <p:nvSpPr>
          <p:cNvPr id="12" name="Text 10"/>
          <p:cNvSpPr/>
          <p:nvPr/>
        </p:nvSpPr>
        <p:spPr>
          <a:xfrm>
            <a:off x="384048" y="2322576"/>
            <a:ext cx="2359152" cy="256032"/>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As a nurse I want to log in securely...</a:t>
            </a:r>
            <a:endParaRPr lang="en-US" sz="950" dirty="0"/>
          </a:p>
        </p:txBody>
      </p:sp>
      <p:sp>
        <p:nvSpPr>
          <p:cNvPr id="13" name="Text 11"/>
          <p:cNvSpPr/>
          <p:nvPr/>
        </p:nvSpPr>
        <p:spPr>
          <a:xfrm>
            <a:off x="384048" y="2670048"/>
            <a:ext cx="2359152" cy="201168"/>
          </a:xfrm>
          <a:prstGeom prst="rect">
            <a:avLst/>
          </a:prstGeom>
          <a:noFill/>
          <a:ln/>
        </p:spPr>
        <p:txBody>
          <a:bodyPr wrap="square" lIns="0" tIns="0" rIns="0" bIns="0" rtlCol="0" anchor="ctr"/>
          <a:lstStyle/>
          <a:p>
            <a:pPr indent="0" marL="0">
              <a:buNone/>
            </a:pPr>
            <a:r>
              <a:rPr lang="en-US" sz="900" b="1" dirty="0">
                <a:solidFill>
                  <a:srgbClr val="1E88E5"/>
                </a:solidFill>
                <a:latin typeface="Calibri" pitchFamily="34" charset="0"/>
                <a:ea typeface="Calibri" pitchFamily="34" charset="-122"/>
                <a:cs typeface="Calibri" pitchFamily="34" charset="-120"/>
              </a:rPr>
              <a:t>Acceptance Criteria</a:t>
            </a:r>
            <a:endParaRPr lang="en-US" sz="900" dirty="0"/>
          </a:p>
        </p:txBody>
      </p:sp>
      <p:sp>
        <p:nvSpPr>
          <p:cNvPr id="14" name="Text 12"/>
          <p:cNvSpPr/>
          <p:nvPr/>
        </p:nvSpPr>
        <p:spPr>
          <a:xfrm>
            <a:off x="384048" y="2871216"/>
            <a:ext cx="2359152" cy="256032"/>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Given / When / Then (3 ACs)</a:t>
            </a:r>
            <a:endParaRPr lang="en-US" sz="950" dirty="0"/>
          </a:p>
        </p:txBody>
      </p:sp>
      <p:sp>
        <p:nvSpPr>
          <p:cNvPr id="15" name="Text 13"/>
          <p:cNvSpPr/>
          <p:nvPr/>
        </p:nvSpPr>
        <p:spPr>
          <a:xfrm>
            <a:off x="384048" y="3218688"/>
            <a:ext cx="2359152" cy="201168"/>
          </a:xfrm>
          <a:prstGeom prst="rect">
            <a:avLst/>
          </a:prstGeom>
          <a:noFill/>
          <a:ln/>
        </p:spPr>
        <p:txBody>
          <a:bodyPr wrap="square" lIns="0" tIns="0" rIns="0" bIns="0" rtlCol="0" anchor="ctr"/>
          <a:lstStyle/>
          <a:p>
            <a:pPr indent="0" marL="0">
              <a:buNone/>
            </a:pPr>
            <a:r>
              <a:rPr lang="en-US" sz="900" b="1" dirty="0">
                <a:solidFill>
                  <a:srgbClr val="1E88E5"/>
                </a:solidFill>
                <a:latin typeface="Calibri" pitchFamily="34" charset="0"/>
                <a:ea typeface="Calibri" pitchFamily="34" charset="-122"/>
                <a:cs typeface="Calibri" pitchFamily="34" charset="-120"/>
              </a:rPr>
              <a:t>Story Points</a:t>
            </a:r>
            <a:endParaRPr lang="en-US" sz="900" dirty="0"/>
          </a:p>
        </p:txBody>
      </p:sp>
      <p:sp>
        <p:nvSpPr>
          <p:cNvPr id="16" name="Text 14"/>
          <p:cNvSpPr/>
          <p:nvPr/>
        </p:nvSpPr>
        <p:spPr>
          <a:xfrm>
            <a:off x="384048" y="3419856"/>
            <a:ext cx="2359152" cy="256032"/>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8 pts → ~48 target hours</a:t>
            </a:r>
            <a:endParaRPr lang="en-US" sz="950" dirty="0"/>
          </a:p>
        </p:txBody>
      </p:sp>
      <p:sp>
        <p:nvSpPr>
          <p:cNvPr id="17" name="Shape 15"/>
          <p:cNvSpPr/>
          <p:nvPr/>
        </p:nvSpPr>
        <p:spPr>
          <a:xfrm>
            <a:off x="3063240" y="1371600"/>
            <a:ext cx="2377440" cy="1371600"/>
          </a:xfrm>
          <a:prstGeom prst="roundRect">
            <a:avLst>
              <a:gd name="adj" fmla="val 6667"/>
            </a:avLst>
          </a:prstGeom>
          <a:solidFill>
            <a:srgbClr val="EFF6FF"/>
          </a:solidFill>
          <a:ln w="12700">
            <a:solidFill>
              <a:srgbClr val="1565C0"/>
            </a:solidFill>
            <a:prstDash val="solid"/>
          </a:ln>
          <a:effectLst>
            <a:outerShdw sx="100000" sy="100000" kx="0" ky="0" algn="bl" rotWithShape="0" blurRad="101600" dist="38100" dir="2700000">
              <a:srgbClr val="000000">
                <a:alpha val="10000"/>
              </a:srgbClr>
            </a:outerShdw>
          </a:effectLst>
        </p:spPr>
      </p:sp>
      <p:sp>
        <p:nvSpPr>
          <p:cNvPr id="18" name="Text 16"/>
          <p:cNvSpPr/>
          <p:nvPr/>
        </p:nvSpPr>
        <p:spPr>
          <a:xfrm>
            <a:off x="3063240" y="1444752"/>
            <a:ext cx="237744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3063240" y="1856232"/>
            <a:ext cx="2377440" cy="310896"/>
          </a:xfrm>
          <a:prstGeom prst="rect">
            <a:avLst/>
          </a:prstGeom>
          <a:noFill/>
          <a:ln/>
        </p:spPr>
        <p:txBody>
          <a:bodyPr wrap="square" lIns="0" tIns="0" rIns="0" bIns="0" rtlCol="0" anchor="ctr"/>
          <a:lstStyle/>
          <a:p>
            <a:pPr algn="ctr" indent="0" marL="0">
              <a:buNone/>
            </a:pPr>
            <a:r>
              <a:rPr lang="en-US" sz="1100" b="1" dirty="0">
                <a:solidFill>
                  <a:srgbClr val="0D2B5E"/>
                </a:solidFill>
                <a:latin typeface="Calibri" pitchFamily="34" charset="0"/>
                <a:ea typeface="Calibri" pitchFamily="34" charset="-122"/>
                <a:cs typeface="Calibri" pitchFamily="34" charset="-120"/>
              </a:rPr>
              <a:t>SprintPlannerAgent</a:t>
            </a:r>
            <a:endParaRPr lang="en-US" sz="1100" dirty="0"/>
          </a:p>
        </p:txBody>
      </p:sp>
      <p:sp>
        <p:nvSpPr>
          <p:cNvPr id="20" name="Text 18"/>
          <p:cNvSpPr/>
          <p:nvPr/>
        </p:nvSpPr>
        <p:spPr>
          <a:xfrm>
            <a:off x="3063240" y="2176272"/>
            <a:ext cx="2377440" cy="475488"/>
          </a:xfrm>
          <a:prstGeom prst="rect">
            <a:avLst/>
          </a:prstGeom>
          <a:noFill/>
          <a:ln/>
        </p:spPr>
        <p:txBody>
          <a:bodyPr wrap="square" lIns="0" tIns="0" rIns="0" bIns="0" rtlCol="0" anchor="ctr"/>
          <a:lstStyle/>
          <a:p>
            <a:pPr algn="ctr" indent="0" marL="0">
              <a:buNone/>
            </a:pPr>
            <a:r>
              <a:rPr lang="en-US" sz="1000" dirty="0">
                <a:solidFill>
                  <a:srgbClr val="334E68"/>
                </a:solidFill>
                <a:latin typeface="Calibri" pitchFamily="34" charset="0"/>
                <a:ea typeface="Calibri" pitchFamily="34" charset="-122"/>
                <a:cs typeface="Calibri" pitchFamily="34" charset="-120"/>
              </a:rPr>
              <a:t>Synthesises all story</a:t>
            </a:r>
            <a:endParaRPr lang="en-US" sz="1000" dirty="0"/>
          </a:p>
          <a:p>
            <a:pPr algn="ctr" indent="0" marL="0">
              <a:buNone/>
            </a:pPr>
            <a:r>
              <a:rPr lang="en-US" sz="1000" dirty="0">
                <a:solidFill>
                  <a:srgbClr val="334E68"/>
                </a:solidFill>
                <a:latin typeface="Calibri" pitchFamily="34" charset="0"/>
                <a:ea typeface="Calibri" pitchFamily="34" charset="-122"/>
                <a:cs typeface="Calibri" pitchFamily="34" charset="-120"/>
              </a:rPr>
              <a:t>fields via GPT-4o</a:t>
            </a:r>
            <a:endParaRPr lang="en-US" sz="1000" dirty="0"/>
          </a:p>
        </p:txBody>
      </p:sp>
      <p:sp>
        <p:nvSpPr>
          <p:cNvPr id="21" name="Shape 19"/>
          <p:cNvSpPr/>
          <p:nvPr/>
        </p:nvSpPr>
        <p:spPr>
          <a:xfrm>
            <a:off x="2852928" y="2450592"/>
            <a:ext cx="201168" cy="0"/>
          </a:xfrm>
          <a:prstGeom prst="line">
            <a:avLst/>
          </a:prstGeom>
          <a:noFill/>
          <a:ln w="25400">
            <a:solidFill>
              <a:srgbClr val="1565C0"/>
            </a:solidFill>
            <a:prstDash val="solid"/>
          </a:ln>
        </p:spPr>
      </p:sp>
      <p:sp>
        <p:nvSpPr>
          <p:cNvPr id="22" name="Shape 20"/>
          <p:cNvSpPr/>
          <p:nvPr/>
        </p:nvSpPr>
        <p:spPr>
          <a:xfrm>
            <a:off x="5458968" y="2450592"/>
            <a:ext cx="201168" cy="0"/>
          </a:xfrm>
          <a:prstGeom prst="line">
            <a:avLst/>
          </a:prstGeom>
          <a:noFill/>
          <a:ln w="25400">
            <a:solidFill>
              <a:srgbClr val="1565C0"/>
            </a:solidFill>
            <a:prstDash val="solid"/>
          </a:ln>
        </p:spPr>
      </p:sp>
      <p:sp>
        <p:nvSpPr>
          <p:cNvPr id="23" name="Shape 21"/>
          <p:cNvSpPr/>
          <p:nvPr/>
        </p:nvSpPr>
        <p:spPr>
          <a:xfrm>
            <a:off x="5715000" y="1097280"/>
            <a:ext cx="1463040" cy="877824"/>
          </a:xfrm>
          <a:prstGeom prst="roundRect">
            <a:avLst>
              <a:gd name="adj" fmla="val 7292"/>
            </a:avLst>
          </a:prstGeom>
          <a:solidFill>
            <a:srgbClr val="E3F0FF"/>
          </a:solidFill>
          <a:ln w="12700">
            <a:solidFill>
              <a:srgbClr val="DBEAFE"/>
            </a:solidFill>
            <a:prstDash val="solid"/>
          </a:ln>
        </p:spPr>
      </p:sp>
      <p:sp>
        <p:nvSpPr>
          <p:cNvPr id="24" name="Text 22"/>
          <p:cNvSpPr/>
          <p:nvPr/>
        </p:nvSpPr>
        <p:spPr>
          <a:xfrm>
            <a:off x="5715000" y="1152144"/>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5" name="Text 23"/>
          <p:cNvSpPr/>
          <p:nvPr/>
        </p:nvSpPr>
        <p:spPr>
          <a:xfrm>
            <a:off x="5715000" y="1399032"/>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Design</a:t>
            </a:r>
            <a:endParaRPr lang="en-US" sz="900" dirty="0"/>
          </a:p>
        </p:txBody>
      </p:sp>
      <p:sp>
        <p:nvSpPr>
          <p:cNvPr id="26" name="Text 24"/>
          <p:cNvSpPr/>
          <p:nvPr/>
        </p:nvSpPr>
        <p:spPr>
          <a:xfrm>
            <a:off x="5715000" y="1673352"/>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4h</a:t>
            </a:r>
            <a:endParaRPr lang="en-US" sz="900" dirty="0"/>
          </a:p>
        </p:txBody>
      </p:sp>
      <p:sp>
        <p:nvSpPr>
          <p:cNvPr id="27" name="Shape 25"/>
          <p:cNvSpPr/>
          <p:nvPr/>
        </p:nvSpPr>
        <p:spPr>
          <a:xfrm>
            <a:off x="5715000" y="2084832"/>
            <a:ext cx="1463040" cy="877824"/>
          </a:xfrm>
          <a:prstGeom prst="roundRect">
            <a:avLst>
              <a:gd name="adj" fmla="val 7292"/>
            </a:avLst>
          </a:prstGeom>
          <a:solidFill>
            <a:srgbClr val="E3F0FF"/>
          </a:solidFill>
          <a:ln w="12700">
            <a:solidFill>
              <a:srgbClr val="DBEAFE"/>
            </a:solidFill>
            <a:prstDash val="solid"/>
          </a:ln>
        </p:spPr>
      </p:sp>
      <p:sp>
        <p:nvSpPr>
          <p:cNvPr id="28" name="Text 26"/>
          <p:cNvSpPr/>
          <p:nvPr/>
        </p:nvSpPr>
        <p:spPr>
          <a:xfrm>
            <a:off x="5715000" y="2139696"/>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29" name="Text 27"/>
          <p:cNvSpPr/>
          <p:nvPr/>
        </p:nvSpPr>
        <p:spPr>
          <a:xfrm>
            <a:off x="5715000" y="2386584"/>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Backend Dev</a:t>
            </a:r>
            <a:endParaRPr lang="en-US" sz="900" dirty="0"/>
          </a:p>
        </p:txBody>
      </p:sp>
      <p:sp>
        <p:nvSpPr>
          <p:cNvPr id="30" name="Text 28"/>
          <p:cNvSpPr/>
          <p:nvPr/>
        </p:nvSpPr>
        <p:spPr>
          <a:xfrm>
            <a:off x="5715000" y="2660904"/>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12h</a:t>
            </a:r>
            <a:endParaRPr lang="en-US" sz="900" dirty="0"/>
          </a:p>
        </p:txBody>
      </p:sp>
      <p:sp>
        <p:nvSpPr>
          <p:cNvPr id="31" name="Shape 29"/>
          <p:cNvSpPr/>
          <p:nvPr/>
        </p:nvSpPr>
        <p:spPr>
          <a:xfrm>
            <a:off x="5715000" y="3072384"/>
            <a:ext cx="1463040" cy="877824"/>
          </a:xfrm>
          <a:prstGeom prst="roundRect">
            <a:avLst>
              <a:gd name="adj" fmla="val 7292"/>
            </a:avLst>
          </a:prstGeom>
          <a:solidFill>
            <a:srgbClr val="E3F0FF"/>
          </a:solidFill>
          <a:ln w="12700">
            <a:solidFill>
              <a:srgbClr val="DBEAFE"/>
            </a:solidFill>
            <a:prstDash val="solid"/>
          </a:ln>
        </p:spPr>
      </p:sp>
      <p:sp>
        <p:nvSpPr>
          <p:cNvPr id="32" name="Text 30"/>
          <p:cNvSpPr/>
          <p:nvPr/>
        </p:nvSpPr>
        <p:spPr>
          <a:xfrm>
            <a:off x="5715000" y="3127248"/>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3" name="Text 31"/>
          <p:cNvSpPr/>
          <p:nvPr/>
        </p:nvSpPr>
        <p:spPr>
          <a:xfrm>
            <a:off x="5715000" y="3374136"/>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Frontend Dev</a:t>
            </a:r>
            <a:endParaRPr lang="en-US" sz="900" dirty="0"/>
          </a:p>
        </p:txBody>
      </p:sp>
      <p:sp>
        <p:nvSpPr>
          <p:cNvPr id="34" name="Text 32"/>
          <p:cNvSpPr/>
          <p:nvPr/>
        </p:nvSpPr>
        <p:spPr>
          <a:xfrm>
            <a:off x="5715000" y="3648456"/>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8h</a:t>
            </a:r>
            <a:endParaRPr lang="en-US" sz="900" dirty="0"/>
          </a:p>
        </p:txBody>
      </p:sp>
      <p:sp>
        <p:nvSpPr>
          <p:cNvPr id="35" name="Shape 33"/>
          <p:cNvSpPr/>
          <p:nvPr/>
        </p:nvSpPr>
        <p:spPr>
          <a:xfrm>
            <a:off x="5715000" y="4059936"/>
            <a:ext cx="1463040" cy="877824"/>
          </a:xfrm>
          <a:prstGeom prst="roundRect">
            <a:avLst>
              <a:gd name="adj" fmla="val 7292"/>
            </a:avLst>
          </a:prstGeom>
          <a:solidFill>
            <a:srgbClr val="E3F0FF"/>
          </a:solidFill>
          <a:ln w="12700">
            <a:solidFill>
              <a:srgbClr val="DBEAFE"/>
            </a:solidFill>
            <a:prstDash val="solid"/>
          </a:ln>
        </p:spPr>
      </p:sp>
      <p:sp>
        <p:nvSpPr>
          <p:cNvPr id="36" name="Text 34"/>
          <p:cNvSpPr/>
          <p:nvPr/>
        </p:nvSpPr>
        <p:spPr>
          <a:xfrm>
            <a:off x="5715000" y="4114800"/>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37" name="Text 35"/>
          <p:cNvSpPr/>
          <p:nvPr/>
        </p:nvSpPr>
        <p:spPr>
          <a:xfrm>
            <a:off x="5715000" y="4361688"/>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Unit Testing</a:t>
            </a:r>
            <a:endParaRPr lang="en-US" sz="900" dirty="0"/>
          </a:p>
        </p:txBody>
      </p:sp>
      <p:sp>
        <p:nvSpPr>
          <p:cNvPr id="38" name="Text 36"/>
          <p:cNvSpPr/>
          <p:nvPr/>
        </p:nvSpPr>
        <p:spPr>
          <a:xfrm>
            <a:off x="5715000" y="4636008"/>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6h</a:t>
            </a:r>
            <a:endParaRPr lang="en-US" sz="900" dirty="0"/>
          </a:p>
        </p:txBody>
      </p:sp>
      <p:sp>
        <p:nvSpPr>
          <p:cNvPr id="39" name="Shape 37"/>
          <p:cNvSpPr/>
          <p:nvPr/>
        </p:nvSpPr>
        <p:spPr>
          <a:xfrm>
            <a:off x="7287768" y="1097280"/>
            <a:ext cx="1463040" cy="877824"/>
          </a:xfrm>
          <a:prstGeom prst="roundRect">
            <a:avLst>
              <a:gd name="adj" fmla="val 7292"/>
            </a:avLst>
          </a:prstGeom>
          <a:solidFill>
            <a:srgbClr val="EFF6FF"/>
          </a:solidFill>
          <a:ln w="12700">
            <a:solidFill>
              <a:srgbClr val="DBEAFE"/>
            </a:solidFill>
            <a:prstDash val="solid"/>
          </a:ln>
        </p:spPr>
      </p:sp>
      <p:sp>
        <p:nvSpPr>
          <p:cNvPr id="40" name="Text 38"/>
          <p:cNvSpPr/>
          <p:nvPr/>
        </p:nvSpPr>
        <p:spPr>
          <a:xfrm>
            <a:off x="7287768" y="1152144"/>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41" name="Text 39"/>
          <p:cNvSpPr/>
          <p:nvPr/>
        </p:nvSpPr>
        <p:spPr>
          <a:xfrm>
            <a:off x="7287768" y="1399032"/>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QA Integration</a:t>
            </a:r>
            <a:endParaRPr lang="en-US" sz="900" dirty="0"/>
          </a:p>
        </p:txBody>
      </p:sp>
      <p:sp>
        <p:nvSpPr>
          <p:cNvPr id="42" name="Text 40"/>
          <p:cNvSpPr/>
          <p:nvPr/>
        </p:nvSpPr>
        <p:spPr>
          <a:xfrm>
            <a:off x="7287768" y="1673352"/>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8h</a:t>
            </a:r>
            <a:endParaRPr lang="en-US" sz="900" dirty="0"/>
          </a:p>
        </p:txBody>
      </p:sp>
      <p:sp>
        <p:nvSpPr>
          <p:cNvPr id="43" name="Shape 41"/>
          <p:cNvSpPr/>
          <p:nvPr/>
        </p:nvSpPr>
        <p:spPr>
          <a:xfrm>
            <a:off x="7287768" y="2084832"/>
            <a:ext cx="1463040" cy="877824"/>
          </a:xfrm>
          <a:prstGeom prst="roundRect">
            <a:avLst>
              <a:gd name="adj" fmla="val 7292"/>
            </a:avLst>
          </a:prstGeom>
          <a:solidFill>
            <a:srgbClr val="EFF6FF"/>
          </a:solidFill>
          <a:ln w="12700">
            <a:solidFill>
              <a:srgbClr val="DBEAFE"/>
            </a:solidFill>
            <a:prstDash val="solid"/>
          </a:ln>
        </p:spPr>
      </p:sp>
      <p:sp>
        <p:nvSpPr>
          <p:cNvPr id="44" name="Text 42"/>
          <p:cNvSpPr/>
          <p:nvPr/>
        </p:nvSpPr>
        <p:spPr>
          <a:xfrm>
            <a:off x="7287768" y="2139696"/>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45" name="Text 43"/>
          <p:cNvSpPr/>
          <p:nvPr/>
        </p:nvSpPr>
        <p:spPr>
          <a:xfrm>
            <a:off x="7287768" y="2386584"/>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Documentation</a:t>
            </a:r>
            <a:endParaRPr lang="en-US" sz="900" dirty="0"/>
          </a:p>
        </p:txBody>
      </p:sp>
      <p:sp>
        <p:nvSpPr>
          <p:cNvPr id="46" name="Text 44"/>
          <p:cNvSpPr/>
          <p:nvPr/>
        </p:nvSpPr>
        <p:spPr>
          <a:xfrm>
            <a:off x="7287768" y="2660904"/>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4h</a:t>
            </a:r>
            <a:endParaRPr lang="en-US" sz="900" dirty="0"/>
          </a:p>
        </p:txBody>
      </p:sp>
      <p:sp>
        <p:nvSpPr>
          <p:cNvPr id="47" name="Shape 45"/>
          <p:cNvSpPr/>
          <p:nvPr/>
        </p:nvSpPr>
        <p:spPr>
          <a:xfrm>
            <a:off x="7287768" y="3072384"/>
            <a:ext cx="1463040" cy="877824"/>
          </a:xfrm>
          <a:prstGeom prst="roundRect">
            <a:avLst>
              <a:gd name="adj" fmla="val 7292"/>
            </a:avLst>
          </a:prstGeom>
          <a:solidFill>
            <a:srgbClr val="EFF6FF"/>
          </a:solidFill>
          <a:ln w="12700">
            <a:solidFill>
              <a:srgbClr val="DBEAFE"/>
            </a:solidFill>
            <a:prstDash val="solid"/>
          </a:ln>
        </p:spPr>
      </p:sp>
      <p:sp>
        <p:nvSpPr>
          <p:cNvPr id="48" name="Text 46"/>
          <p:cNvSpPr/>
          <p:nvPr/>
        </p:nvSpPr>
        <p:spPr>
          <a:xfrm>
            <a:off x="7287768" y="3127248"/>
            <a:ext cx="1463040" cy="256032"/>
          </a:xfrm>
          <a:prstGeom prst="rect">
            <a:avLst/>
          </a:prstGeom>
          <a:noFill/>
          <a:ln/>
        </p:spPr>
        <p:txBody>
          <a:bodyPr wrap="square" lIns="0" tIns="0" rIns="0" bIns="0" rtlCol="0" anchor="ctr"/>
          <a:lstStyle/>
          <a:p>
            <a:pPr algn="ctr" indent="0" marL="0">
              <a:buNone/>
            </a:pPr>
            <a:r>
              <a:rPr lang="en-US" sz="1400" dirty="0">
                <a:solidFill>
                  <a:srgbClr val="000000"/>
                </a:solidFill>
              </a:rPr>
              <a:t>🚀</a:t>
            </a:r>
            <a:endParaRPr lang="en-US" sz="1400" dirty="0"/>
          </a:p>
        </p:txBody>
      </p:sp>
      <p:sp>
        <p:nvSpPr>
          <p:cNvPr id="49" name="Text 47"/>
          <p:cNvSpPr/>
          <p:nvPr/>
        </p:nvSpPr>
        <p:spPr>
          <a:xfrm>
            <a:off x="7287768" y="3374136"/>
            <a:ext cx="1463040" cy="256032"/>
          </a:xfrm>
          <a:prstGeom prst="rect">
            <a:avLst/>
          </a:prstGeom>
          <a:noFill/>
          <a:ln/>
        </p:spPr>
        <p:txBody>
          <a:bodyPr wrap="square" lIns="0" tIns="0" rIns="0" bIns="0" rtlCol="0" anchor="ctr"/>
          <a:lstStyle/>
          <a:p>
            <a:pPr algn="ctr" indent="0" marL="0">
              <a:buNone/>
            </a:pPr>
            <a:r>
              <a:rPr lang="en-US" sz="900" b="1" dirty="0">
                <a:solidFill>
                  <a:srgbClr val="0D2B5E"/>
                </a:solidFill>
                <a:latin typeface="Calibri" pitchFamily="34" charset="0"/>
                <a:ea typeface="Calibri" pitchFamily="34" charset="-122"/>
                <a:cs typeface="Calibri" pitchFamily="34" charset="-120"/>
              </a:rPr>
              <a:t>Deployment</a:t>
            </a:r>
            <a:endParaRPr lang="en-US" sz="900" dirty="0"/>
          </a:p>
        </p:txBody>
      </p:sp>
      <p:sp>
        <p:nvSpPr>
          <p:cNvPr id="50" name="Text 48"/>
          <p:cNvSpPr/>
          <p:nvPr/>
        </p:nvSpPr>
        <p:spPr>
          <a:xfrm>
            <a:off x="7287768" y="3648456"/>
            <a:ext cx="1463040" cy="237744"/>
          </a:xfrm>
          <a:prstGeom prst="rect">
            <a:avLst/>
          </a:prstGeom>
          <a:noFill/>
          <a:ln/>
        </p:spPr>
        <p:txBody>
          <a:bodyPr wrap="square" lIns="0" tIns="0" rIns="0" bIns="0" rtlCol="0" anchor="ctr"/>
          <a:lstStyle/>
          <a:p>
            <a:pPr algn="ctr" indent="0" marL="0">
              <a:buNone/>
            </a:pPr>
            <a:r>
              <a:rPr lang="en-US" sz="900" b="1" dirty="0">
                <a:solidFill>
                  <a:srgbClr val="1565C0"/>
                </a:solidFill>
                <a:latin typeface="Calibri" pitchFamily="34" charset="0"/>
                <a:ea typeface="Calibri" pitchFamily="34" charset="-122"/>
                <a:cs typeface="Calibri" pitchFamily="34" charset="-120"/>
              </a:rPr>
              <a:t>6h</a:t>
            </a:r>
            <a:endParaRPr lang="en-US" sz="900" dirty="0"/>
          </a:p>
        </p:txBody>
      </p:sp>
      <p:sp>
        <p:nvSpPr>
          <p:cNvPr id="51" name="Text 49"/>
          <p:cNvSpPr/>
          <p:nvPr/>
        </p:nvSpPr>
        <p:spPr>
          <a:xfrm>
            <a:off x="274320" y="4462272"/>
            <a:ext cx="8595360" cy="246888"/>
          </a:xfrm>
          <a:prstGeom prst="rect">
            <a:avLst/>
          </a:prstGeom>
          <a:noFill/>
          <a:ln/>
        </p:spPr>
        <p:txBody>
          <a:bodyPr wrap="square" rtlCol="0" anchor="ctr"/>
          <a:lstStyle/>
          <a:p>
            <a:pPr algn="ctr" indent="0" marL="0">
              <a:buNone/>
            </a:pPr>
            <a:r>
              <a:rPr lang="en-US" sz="1000" i="1" dirty="0">
                <a:solidFill>
                  <a:srgbClr val="5B7FA6"/>
                </a:solidFill>
                <a:latin typeface="Calibri" pitchFamily="34" charset="0"/>
                <a:ea typeface="Calibri" pitchFamily="34" charset="-122"/>
                <a:cs typeface="Calibri" pitchFamily="34" charset="-120"/>
              </a:rPr>
              <a:t>7 tasks · 48h total · all linked to parent story in ADO · created in under 30 seconds</a:t>
            </a:r>
            <a:endParaRPr lang="en-US" sz="1000" dirty="0"/>
          </a:p>
        </p:txBody>
      </p:sp>
      <p:sp>
        <p:nvSpPr>
          <p:cNvPr id="52" name="Shape 50"/>
          <p:cNvSpPr/>
          <p:nvPr/>
        </p:nvSpPr>
        <p:spPr>
          <a:xfrm>
            <a:off x="0" y="4782312"/>
            <a:ext cx="9144000" cy="361188"/>
          </a:xfrm>
          <a:prstGeom prst="rect">
            <a:avLst/>
          </a:prstGeom>
          <a:solidFill>
            <a:srgbClr val="1565C0"/>
          </a:solidFill>
          <a:ln w="12700">
            <a:solidFill>
              <a:srgbClr val="1565C0"/>
            </a:solidFill>
            <a:prstDash val="solid"/>
          </a:ln>
        </p:spPr>
      </p:sp>
      <p:sp>
        <p:nvSpPr>
          <p:cNvPr id="53" name="Text 51"/>
          <p:cNvSpPr/>
          <p:nvPr/>
        </p:nvSpPr>
        <p:spPr>
          <a:xfrm>
            <a:off x="320040" y="4800600"/>
            <a:ext cx="850392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Each task title and description is specific to THIS story — derived directly from its Acceptance Criteria. Not generic templates.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5E"/>
        </a:solidFill>
      </p:bgPr>
    </p:bg>
    <p:spTree>
      <p:nvGrpSpPr>
        <p:cNvPr id="1" name=""/>
        <p:cNvGrpSpPr/>
        <p:nvPr/>
      </p:nvGrpSpPr>
      <p:grpSpPr>
        <a:xfrm>
          <a:off x="0" y="0"/>
          <a:ext cx="0" cy="0"/>
          <a:chOff x="0" y="0"/>
          <a:chExt cx="0" cy="0"/>
        </a:xfrm>
      </p:grpSpPr>
      <p:sp>
        <p:nvSpPr>
          <p:cNvPr id="2" name="Shape 0"/>
          <p:cNvSpPr/>
          <p:nvPr/>
        </p:nvSpPr>
        <p:spPr>
          <a:xfrm>
            <a:off x="365760" y="274320"/>
            <a:ext cx="822960" cy="329184"/>
          </a:xfrm>
          <a:prstGeom prst="roundRect">
            <a:avLst>
              <a:gd name="adj" fmla="val 13889"/>
            </a:avLst>
          </a:prstGeom>
          <a:solidFill>
            <a:srgbClr val="1E88E5"/>
          </a:solidFill>
          <a:ln w="12700">
            <a:solidFill>
              <a:srgbClr val="1E88E5"/>
            </a:solidFill>
            <a:prstDash val="solid"/>
          </a:ln>
        </p:spPr>
      </p:sp>
      <p:sp>
        <p:nvSpPr>
          <p:cNvPr id="3" name="Text 1"/>
          <p:cNvSpPr/>
          <p:nvPr/>
        </p:nvSpPr>
        <p:spPr>
          <a:xfrm>
            <a:off x="365760" y="274320"/>
            <a:ext cx="822960" cy="329184"/>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4" name="Text 2"/>
          <p:cNvSpPr/>
          <p:nvPr/>
        </p:nvSpPr>
        <p:spPr>
          <a:xfrm>
            <a:off x="1371600" y="237744"/>
            <a:ext cx="7315200" cy="502920"/>
          </a:xfrm>
          <a:prstGeom prst="rect">
            <a:avLst/>
          </a:prstGeom>
          <a:noFill/>
          <a:ln/>
        </p:spPr>
        <p:txBody>
          <a:bodyPr wrap="square" rtlCol="0" anchor="ctr"/>
          <a:lstStyle/>
          <a:p>
            <a:pPr indent="0" marL="0">
              <a:buNone/>
            </a:pPr>
            <a:r>
              <a:rPr lang="en-US" sz="2300" b="1" dirty="0">
                <a:solidFill>
                  <a:srgbClr val="FFFFFF"/>
                </a:solidFill>
                <a:latin typeface="Calibri" pitchFamily="34" charset="0"/>
                <a:ea typeface="Calibri" pitchFamily="34" charset="-122"/>
                <a:cs typeface="Calibri" pitchFamily="34" charset="-120"/>
              </a:rPr>
              <a:t>Agent Roadmap — What's Next for @ScrumAgent</a:t>
            </a:r>
            <a:endParaRPr lang="en-US" sz="2300" dirty="0"/>
          </a:p>
        </p:txBody>
      </p:sp>
      <p:sp>
        <p:nvSpPr>
          <p:cNvPr id="5" name="Text 3"/>
          <p:cNvSpPr/>
          <p:nvPr/>
        </p:nvSpPr>
        <p:spPr>
          <a:xfrm>
            <a:off x="457200" y="841248"/>
            <a:ext cx="8229600" cy="292608"/>
          </a:xfrm>
          <a:prstGeom prst="rect">
            <a:avLst/>
          </a:prstGeom>
          <a:noFill/>
          <a:ln/>
        </p:spPr>
        <p:txBody>
          <a:bodyPr wrap="square" rtlCol="0" anchor="ctr"/>
          <a:lstStyle/>
          <a:p>
            <a:pPr indent="0" marL="0">
              <a:buNone/>
            </a:pPr>
            <a:r>
              <a:rPr lang="en-US" sz="1200" i="1" dirty="0">
                <a:solidFill>
                  <a:srgbClr val="E3F0FF"/>
                </a:solidFill>
                <a:latin typeface="Calibri" pitchFamily="34" charset="0"/>
                <a:ea typeface="Calibri" pitchFamily="34" charset="-122"/>
                <a:cs typeface="Calibri" pitchFamily="34" charset="-120"/>
              </a:rPr>
              <a:t>6 agents built  ·  18 more planned across 4 categories</a:t>
            </a:r>
            <a:endParaRPr lang="en-US" sz="1200" dirty="0"/>
          </a:p>
        </p:txBody>
      </p:sp>
      <p:sp>
        <p:nvSpPr>
          <p:cNvPr id="6" name="Shape 4"/>
          <p:cNvSpPr/>
          <p:nvPr/>
        </p:nvSpPr>
        <p:spPr>
          <a:xfrm>
            <a:off x="320040" y="1261872"/>
            <a:ext cx="4251960" cy="1737360"/>
          </a:xfrm>
          <a:prstGeom prst="roundRect">
            <a:avLst>
              <a:gd name="adj" fmla="val 5263"/>
            </a:avLst>
          </a:prstGeom>
          <a:solidFill>
            <a:srgbClr val="1565C0">
              <a:alpha val="80000"/>
            </a:srgbClr>
          </a:solidFill>
          <a:ln w="12700">
            <a:solidFill>
              <a:srgbClr val="1E88E5">
                <a:alpha val="70000"/>
              </a:srgbClr>
            </a:solidFill>
            <a:prstDash val="solid"/>
          </a:ln>
        </p:spPr>
      </p:sp>
      <p:sp>
        <p:nvSpPr>
          <p:cNvPr id="7" name="Text 5"/>
          <p:cNvSpPr/>
          <p:nvPr/>
        </p:nvSpPr>
        <p:spPr>
          <a:xfrm>
            <a:off x="457200" y="1353312"/>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Sprint Intelligence</a:t>
            </a:r>
            <a:endParaRPr lang="en-US" sz="1200" dirty="0"/>
          </a:p>
        </p:txBody>
      </p:sp>
      <p:sp>
        <p:nvSpPr>
          <p:cNvPr id="8" name="Text 6"/>
          <p:cNvSpPr/>
          <p:nvPr/>
        </p:nvSpPr>
        <p:spPr>
          <a:xfrm>
            <a:off x="457200" y="1737360"/>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CapacityPlanner — warns if sprint overcommitted before locking</a:t>
            </a:r>
            <a:endParaRPr lang="en-US" sz="950" dirty="0"/>
          </a:p>
        </p:txBody>
      </p:sp>
      <p:sp>
        <p:nvSpPr>
          <p:cNvPr id="9" name="Text 7"/>
          <p:cNvSpPr/>
          <p:nvPr/>
        </p:nvSpPr>
        <p:spPr>
          <a:xfrm>
            <a:off x="457200" y="2039112"/>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DependencyDetector — finds &amp; links inter-story dependencies</a:t>
            </a:r>
            <a:endParaRPr lang="en-US" sz="950" dirty="0"/>
          </a:p>
        </p:txBody>
      </p:sp>
      <p:sp>
        <p:nvSpPr>
          <p:cNvPr id="10" name="Text 8"/>
          <p:cNvSpPr/>
          <p:nvPr/>
        </p:nvSpPr>
        <p:spPr>
          <a:xfrm>
            <a:off x="457200" y="2340864"/>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SprintHealthCheck — mid-sprint burndown &amp; risk forecast</a:t>
            </a:r>
            <a:endParaRPr lang="en-US" sz="950" dirty="0"/>
          </a:p>
        </p:txBody>
      </p:sp>
      <p:sp>
        <p:nvSpPr>
          <p:cNvPr id="11" name="Text 9"/>
          <p:cNvSpPr/>
          <p:nvPr/>
        </p:nvSpPr>
        <p:spPr>
          <a:xfrm>
            <a:off x="457200" y="2642616"/>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StaleItemAlerter — pings assignees on stuck tasks via Teams</a:t>
            </a:r>
            <a:endParaRPr lang="en-US" sz="950" dirty="0"/>
          </a:p>
        </p:txBody>
      </p:sp>
      <p:sp>
        <p:nvSpPr>
          <p:cNvPr id="12" name="Shape 10"/>
          <p:cNvSpPr/>
          <p:nvPr/>
        </p:nvSpPr>
        <p:spPr>
          <a:xfrm>
            <a:off x="4709160" y="1261872"/>
            <a:ext cx="4251960" cy="1737360"/>
          </a:xfrm>
          <a:prstGeom prst="roundRect">
            <a:avLst>
              <a:gd name="adj" fmla="val 5263"/>
            </a:avLst>
          </a:prstGeom>
          <a:solidFill>
            <a:srgbClr val="1565C0">
              <a:alpha val="80000"/>
            </a:srgbClr>
          </a:solidFill>
          <a:ln w="12700">
            <a:solidFill>
              <a:srgbClr val="1E88E5">
                <a:alpha val="70000"/>
              </a:srgbClr>
            </a:solidFill>
            <a:prstDash val="solid"/>
          </a:ln>
        </p:spPr>
      </p:sp>
      <p:sp>
        <p:nvSpPr>
          <p:cNvPr id="13" name="Text 11"/>
          <p:cNvSpPr/>
          <p:nvPr/>
        </p:nvSpPr>
        <p:spPr>
          <a:xfrm>
            <a:off x="4846320" y="1353312"/>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Quality &amp; Testing</a:t>
            </a:r>
            <a:endParaRPr lang="en-US" sz="1200" dirty="0"/>
          </a:p>
        </p:txBody>
      </p:sp>
      <p:sp>
        <p:nvSpPr>
          <p:cNvPr id="14" name="Text 12"/>
          <p:cNvSpPr/>
          <p:nvPr/>
        </p:nvSpPr>
        <p:spPr>
          <a:xfrm>
            <a:off x="4846320" y="1737360"/>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TestCaseGenerator — ACs to Azure Test Plans automatically</a:t>
            </a:r>
            <a:endParaRPr lang="en-US" sz="950" dirty="0"/>
          </a:p>
        </p:txBody>
      </p:sp>
      <p:sp>
        <p:nvSpPr>
          <p:cNvPr id="15" name="Text 13"/>
          <p:cNvSpPr/>
          <p:nvPr/>
        </p:nvSpPr>
        <p:spPr>
          <a:xfrm>
            <a:off x="4846320" y="2039112"/>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BugTriager — classifies &amp; routes incoming bugs to sprints</a:t>
            </a:r>
            <a:endParaRPr lang="en-US" sz="950" dirty="0"/>
          </a:p>
        </p:txBody>
      </p:sp>
      <p:sp>
        <p:nvSpPr>
          <p:cNvPr id="16" name="Text 14"/>
          <p:cNvSpPr/>
          <p:nvPr/>
        </p:nvSpPr>
        <p:spPr>
          <a:xfrm>
            <a:off x="4846320" y="2340864"/>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DefinitionOfDoneChecker — validates story before it closes</a:t>
            </a:r>
            <a:endParaRPr lang="en-US" sz="950" dirty="0"/>
          </a:p>
        </p:txBody>
      </p:sp>
      <p:sp>
        <p:nvSpPr>
          <p:cNvPr id="17" name="Text 15"/>
          <p:cNvSpPr/>
          <p:nvPr/>
        </p:nvSpPr>
        <p:spPr>
          <a:xfrm>
            <a:off x="4846320" y="2642616"/>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PRLinker — auto-links PRs to User Stories in ADO</a:t>
            </a:r>
            <a:endParaRPr lang="en-US" sz="950" dirty="0"/>
          </a:p>
        </p:txBody>
      </p:sp>
      <p:sp>
        <p:nvSpPr>
          <p:cNvPr id="18" name="Shape 16"/>
          <p:cNvSpPr/>
          <p:nvPr/>
        </p:nvSpPr>
        <p:spPr>
          <a:xfrm>
            <a:off x="320040" y="3127248"/>
            <a:ext cx="4251960" cy="1737360"/>
          </a:xfrm>
          <a:prstGeom prst="roundRect">
            <a:avLst>
              <a:gd name="adj" fmla="val 5263"/>
            </a:avLst>
          </a:prstGeom>
          <a:solidFill>
            <a:srgbClr val="1565C0">
              <a:alpha val="80000"/>
            </a:srgbClr>
          </a:solidFill>
          <a:ln w="12700">
            <a:solidFill>
              <a:srgbClr val="1E88E5">
                <a:alpha val="70000"/>
              </a:srgbClr>
            </a:solidFill>
            <a:prstDash val="solid"/>
          </a:ln>
        </p:spPr>
      </p:sp>
      <p:sp>
        <p:nvSpPr>
          <p:cNvPr id="19" name="Text 17"/>
          <p:cNvSpPr/>
          <p:nvPr/>
        </p:nvSpPr>
        <p:spPr>
          <a:xfrm>
            <a:off x="457200" y="3218688"/>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Stakeholder Comms</a:t>
            </a:r>
            <a:endParaRPr lang="en-US" sz="1200" dirty="0"/>
          </a:p>
        </p:txBody>
      </p:sp>
      <p:sp>
        <p:nvSpPr>
          <p:cNvPr id="20" name="Text 18"/>
          <p:cNvSpPr/>
          <p:nvPr/>
        </p:nvSpPr>
        <p:spPr>
          <a:xfrm>
            <a:off x="457200" y="3602736"/>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SprintReviewDeck — auto-builds sprint review PowerPoint</a:t>
            </a:r>
            <a:endParaRPr lang="en-US" sz="950" dirty="0"/>
          </a:p>
        </p:txBody>
      </p:sp>
      <p:sp>
        <p:nvSpPr>
          <p:cNvPr id="21" name="Text 19"/>
          <p:cNvSpPr/>
          <p:nvPr/>
        </p:nvSpPr>
        <p:spPr>
          <a:xfrm>
            <a:off x="457200" y="3904488"/>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StakeholderUpdate — weekly progress email draft from ADO</a:t>
            </a:r>
            <a:endParaRPr lang="en-US" sz="950" dirty="0"/>
          </a:p>
        </p:txBody>
      </p:sp>
      <p:sp>
        <p:nvSpPr>
          <p:cNvPr id="22" name="Text 20"/>
          <p:cNvSpPr/>
          <p:nvPr/>
        </p:nvSpPr>
        <p:spPr>
          <a:xfrm>
            <a:off x="457200" y="4206240"/>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KPIDashboard — velocity &amp; cycle time Markdown summary</a:t>
            </a:r>
            <a:endParaRPr lang="en-US" sz="950" dirty="0"/>
          </a:p>
        </p:txBody>
      </p:sp>
      <p:sp>
        <p:nvSpPr>
          <p:cNvPr id="23" name="Text 21"/>
          <p:cNvSpPr/>
          <p:nvPr/>
        </p:nvSpPr>
        <p:spPr>
          <a:xfrm>
            <a:off x="457200" y="4507992"/>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CommitSummariser — plain-English digest of all commits</a:t>
            </a:r>
            <a:endParaRPr lang="en-US" sz="950" dirty="0"/>
          </a:p>
        </p:txBody>
      </p:sp>
      <p:sp>
        <p:nvSpPr>
          <p:cNvPr id="24" name="Shape 22"/>
          <p:cNvSpPr/>
          <p:nvPr/>
        </p:nvSpPr>
        <p:spPr>
          <a:xfrm>
            <a:off x="4709160" y="3127248"/>
            <a:ext cx="4251960" cy="1737360"/>
          </a:xfrm>
          <a:prstGeom prst="roundRect">
            <a:avLst>
              <a:gd name="adj" fmla="val 5263"/>
            </a:avLst>
          </a:prstGeom>
          <a:solidFill>
            <a:srgbClr val="1565C0">
              <a:alpha val="80000"/>
            </a:srgbClr>
          </a:solidFill>
          <a:ln w="12700">
            <a:solidFill>
              <a:srgbClr val="1E88E5">
                <a:alpha val="70000"/>
              </a:srgbClr>
            </a:solidFill>
            <a:prstDash val="solid"/>
          </a:ln>
        </p:spPr>
      </p:sp>
      <p:sp>
        <p:nvSpPr>
          <p:cNvPr id="25" name="Text 23"/>
          <p:cNvSpPr/>
          <p:nvPr/>
        </p:nvSpPr>
        <p:spPr>
          <a:xfrm>
            <a:off x="4846320" y="3218688"/>
            <a:ext cx="397764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Governance &amp; Agentic</a:t>
            </a:r>
            <a:endParaRPr lang="en-US" sz="1200" dirty="0"/>
          </a:p>
        </p:txBody>
      </p:sp>
      <p:sp>
        <p:nvSpPr>
          <p:cNvPr id="26" name="Text 24"/>
          <p:cNvSpPr/>
          <p:nvPr/>
        </p:nvSpPr>
        <p:spPr>
          <a:xfrm>
            <a:off x="4846320" y="3602736"/>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AuditTrail — compliance-ready sprint change log</a:t>
            </a:r>
            <a:endParaRPr lang="en-US" sz="950" dirty="0"/>
          </a:p>
        </p:txBody>
      </p:sp>
      <p:sp>
        <p:nvSpPr>
          <p:cNvPr id="27" name="Text 25"/>
          <p:cNvSpPr/>
          <p:nvPr/>
        </p:nvSpPr>
        <p:spPr>
          <a:xfrm>
            <a:off x="4846320" y="3904488"/>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RiskRegister — living ADO Wiki risk register per sprint</a:t>
            </a:r>
            <a:endParaRPr lang="en-US" sz="950" dirty="0"/>
          </a:p>
        </p:txBody>
      </p:sp>
      <p:sp>
        <p:nvSpPr>
          <p:cNvPr id="28" name="Text 26"/>
          <p:cNvSpPr/>
          <p:nvPr/>
        </p:nvSpPr>
        <p:spPr>
          <a:xfrm>
            <a:off x="4846320" y="4206240"/>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OrchestratorAgent — runs full Scrum cycle autonomously</a:t>
            </a:r>
            <a:endParaRPr lang="en-US" sz="950" dirty="0"/>
          </a:p>
        </p:txBody>
      </p:sp>
      <p:sp>
        <p:nvSpPr>
          <p:cNvPr id="29" name="Text 27"/>
          <p:cNvSpPr/>
          <p:nvPr/>
        </p:nvSpPr>
        <p:spPr>
          <a:xfrm>
            <a:off x="4846320" y="4507992"/>
            <a:ext cx="3977640" cy="274320"/>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FFFFFF"/>
                </a:solidFill>
                <a:latin typeface="Calibri" pitchFamily="34" charset="0"/>
                <a:ea typeface="Calibri" pitchFamily="34" charset="-122"/>
                <a:cs typeface="Calibri" pitchFamily="34" charset="-120"/>
              </a:rPr>
              <a:t>SprintBootstrapper — full backlog from plain-English goal</a:t>
            </a:r>
            <a:endParaRPr lang="en-US" sz="950" dirty="0"/>
          </a:p>
        </p:txBody>
      </p:sp>
      <p:sp>
        <p:nvSpPr>
          <p:cNvPr id="30" name="Shape 28"/>
          <p:cNvSpPr/>
          <p:nvPr/>
        </p:nvSpPr>
        <p:spPr>
          <a:xfrm>
            <a:off x="0" y="4782312"/>
            <a:ext cx="9144000" cy="361188"/>
          </a:xfrm>
          <a:prstGeom prst="rect">
            <a:avLst/>
          </a:prstGeom>
          <a:solidFill>
            <a:srgbClr val="1565C0"/>
          </a:solidFill>
          <a:ln w="12700">
            <a:solidFill>
              <a:srgbClr val="1565C0"/>
            </a:solidFill>
            <a:prstDash val="solid"/>
          </a:ln>
        </p:spPr>
      </p:sp>
      <p:sp>
        <p:nvSpPr>
          <p:cNvPr id="31" name="Text 29"/>
          <p:cNvSpPr/>
          <p:nvPr/>
        </p:nvSpPr>
        <p:spPr>
          <a:xfrm>
            <a:off x="320040" y="4800600"/>
            <a:ext cx="850392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Priority order: Sprint Intelligence → Quality &amp; Testing → Stakeholder Comms → Governance &amp; Agentic</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B5E"/>
          </a:solidFill>
          <a:ln w="12700">
            <a:solidFill>
              <a:srgbClr val="0D2B5E"/>
            </a:solidFill>
            <a:prstDash val="solid"/>
          </a:ln>
        </p:spPr>
      </p:sp>
      <p:sp>
        <p:nvSpPr>
          <p:cNvPr id="3" name="Shape 1"/>
          <p:cNvSpPr/>
          <p:nvPr/>
        </p:nvSpPr>
        <p:spPr>
          <a:xfrm>
            <a:off x="365760" y="301752"/>
            <a:ext cx="822960" cy="310896"/>
          </a:xfrm>
          <a:prstGeom prst="roundRect">
            <a:avLst>
              <a:gd name="adj" fmla="val 14706"/>
            </a:avLst>
          </a:prstGeom>
          <a:solidFill>
            <a:srgbClr val="1E88E5"/>
          </a:solidFill>
          <a:ln w="12700">
            <a:solidFill>
              <a:srgbClr val="1E88E5"/>
            </a:solidFill>
            <a:prstDash val="solid"/>
          </a:ln>
        </p:spPr>
      </p:sp>
      <p:sp>
        <p:nvSpPr>
          <p:cNvPr id="4" name="Text 2"/>
          <p:cNvSpPr/>
          <p:nvPr/>
        </p:nvSpPr>
        <p:spPr>
          <a:xfrm>
            <a:off x="365760" y="3017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46888"/>
            <a:ext cx="7406640" cy="49377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Efficiency Gains — Team of X</a:t>
            </a:r>
            <a:endParaRPr lang="en-US" sz="2400" dirty="0"/>
          </a:p>
        </p:txBody>
      </p:sp>
      <p:sp>
        <p:nvSpPr>
          <p:cNvPr id="6" name="Text 4"/>
          <p:cNvSpPr/>
          <p:nvPr/>
        </p:nvSpPr>
        <p:spPr>
          <a:xfrm>
            <a:off x="365760" y="1024128"/>
            <a:ext cx="8412480" cy="256032"/>
          </a:xfrm>
          <a:prstGeom prst="rect">
            <a:avLst/>
          </a:prstGeom>
          <a:noFill/>
          <a:ln/>
        </p:spPr>
        <p:txBody>
          <a:bodyPr wrap="square" rtlCol="0" anchor="ctr"/>
          <a:lstStyle/>
          <a:p>
            <a:pPr indent="0" marL="0">
              <a:buNone/>
            </a:pPr>
            <a:r>
              <a:rPr lang="en-US" sz="1000" i="1" dirty="0">
                <a:solidFill>
                  <a:srgbClr val="5B7FA6"/>
                </a:solidFill>
                <a:latin typeface="Calibri" pitchFamily="34" charset="0"/>
                <a:ea typeface="Calibri" pitchFamily="34" charset="-122"/>
                <a:cs typeface="Calibri" pitchFamily="34" charset="-120"/>
              </a:rPr>
              <a:t>Assumptions: X = team size  ·  2-week sprints  ·  6 sprints per quarter  ·  1 Scrum Master per team</a:t>
            </a:r>
            <a:endParaRPr lang="en-US" sz="1000" dirty="0"/>
          </a:p>
        </p:txBody>
      </p:sp>
      <p:sp>
        <p:nvSpPr>
          <p:cNvPr id="7" name="Shape 5"/>
          <p:cNvSpPr/>
          <p:nvPr/>
        </p:nvSpPr>
        <p:spPr>
          <a:xfrm>
            <a:off x="320040" y="1344168"/>
            <a:ext cx="2029968" cy="1417320"/>
          </a:xfrm>
          <a:prstGeom prst="roundRect">
            <a:avLst>
              <a:gd name="adj" fmla="val 6452"/>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8" name="Text 6"/>
          <p:cNvSpPr/>
          <p:nvPr/>
        </p:nvSpPr>
        <p:spPr>
          <a:xfrm>
            <a:off x="320040" y="1408176"/>
            <a:ext cx="2029968" cy="640080"/>
          </a:xfrm>
          <a:prstGeom prst="rect">
            <a:avLst/>
          </a:prstGeom>
          <a:noFill/>
          <a:ln/>
        </p:spPr>
        <p:txBody>
          <a:bodyPr wrap="square" lIns="0" tIns="0" rIns="0" bIns="0" rtlCol="0" anchor="ctr"/>
          <a:lstStyle/>
          <a:p>
            <a:pPr algn="ctr" indent="0" marL="0">
              <a:buNone/>
            </a:pPr>
            <a:r>
              <a:rPr lang="en-US" sz="3200" b="1" dirty="0">
                <a:solidFill>
                  <a:srgbClr val="1565C0"/>
                </a:solidFill>
                <a:latin typeface="Calibri" pitchFamily="34" charset="0"/>
                <a:ea typeface="Calibri" pitchFamily="34" charset="-122"/>
                <a:cs typeface="Calibri" pitchFamily="34" charset="-120"/>
              </a:rPr>
              <a:t>14–24h</a:t>
            </a:r>
            <a:endParaRPr lang="en-US" sz="3200" dirty="0"/>
          </a:p>
        </p:txBody>
      </p:sp>
      <p:sp>
        <p:nvSpPr>
          <p:cNvPr id="9" name="Text 7"/>
          <p:cNvSpPr/>
          <p:nvPr/>
        </p:nvSpPr>
        <p:spPr>
          <a:xfrm>
            <a:off x="320040" y="2048256"/>
            <a:ext cx="2029968" cy="384048"/>
          </a:xfrm>
          <a:prstGeom prst="rect">
            <a:avLst/>
          </a:prstGeom>
          <a:noFill/>
          <a:ln/>
        </p:spPr>
        <p:txBody>
          <a:bodyPr wrap="square" lIns="0" tIns="0" rIns="0" bIns="0" rtlCol="0" anchor="ctr"/>
          <a:lstStyle/>
          <a:p>
            <a:pPr algn="ctr" indent="0" marL="0">
              <a:buNone/>
            </a:pPr>
            <a:r>
              <a:rPr lang="en-US" sz="1000" b="1" dirty="0">
                <a:solidFill>
                  <a:srgbClr val="0D2B5E"/>
                </a:solidFill>
                <a:latin typeface="Calibri" pitchFamily="34" charset="0"/>
                <a:ea typeface="Calibri" pitchFamily="34" charset="-122"/>
                <a:cs typeface="Calibri" pitchFamily="34" charset="-120"/>
              </a:rPr>
              <a:t>Hours saved</a:t>
            </a:r>
            <a:endParaRPr lang="en-US" sz="1000" dirty="0"/>
          </a:p>
          <a:p>
            <a:pPr algn="ctr" indent="0" marL="0">
              <a:buNone/>
            </a:pPr>
            <a:r>
              <a:rPr lang="en-US" sz="1000" b="1" dirty="0">
                <a:solidFill>
                  <a:srgbClr val="0D2B5E"/>
                </a:solidFill>
                <a:latin typeface="Calibri" pitchFamily="34" charset="0"/>
                <a:ea typeface="Calibri" pitchFamily="34" charset="-122"/>
                <a:cs typeface="Calibri" pitchFamily="34" charset="-120"/>
              </a:rPr>
              <a:t>per sprint</a:t>
            </a:r>
            <a:endParaRPr lang="en-US" sz="1000" dirty="0"/>
          </a:p>
        </p:txBody>
      </p:sp>
      <p:sp>
        <p:nvSpPr>
          <p:cNvPr id="10" name="Text 8"/>
          <p:cNvSpPr/>
          <p:nvPr/>
        </p:nvSpPr>
        <p:spPr>
          <a:xfrm>
            <a:off x="320040" y="2432304"/>
            <a:ext cx="2029968" cy="256032"/>
          </a:xfrm>
          <a:prstGeom prst="rect">
            <a:avLst/>
          </a:prstGeom>
          <a:noFill/>
          <a:ln/>
        </p:spPr>
        <p:txBody>
          <a:bodyPr wrap="square" lIns="0" tIns="0" rIns="0" bIns="0" rtlCol="0" anchor="ctr"/>
          <a:lstStyle/>
          <a:p>
            <a:pPr algn="ctr" indent="0" marL="0">
              <a:buNone/>
            </a:pPr>
            <a:r>
              <a:rPr lang="en-US" sz="850" dirty="0">
                <a:solidFill>
                  <a:srgbClr val="5B7FA6"/>
                </a:solidFill>
                <a:latin typeface="Calibri" pitchFamily="34" charset="0"/>
                <a:ea typeface="Calibri" pitchFamily="34" charset="-122"/>
                <a:cs typeface="Calibri" pitchFamily="34" charset="-120"/>
              </a:rPr>
              <a:t>Admin overhead eliminated</a:t>
            </a:r>
            <a:endParaRPr lang="en-US" sz="850" dirty="0"/>
          </a:p>
        </p:txBody>
      </p:sp>
      <p:sp>
        <p:nvSpPr>
          <p:cNvPr id="11" name="Shape 9"/>
          <p:cNvSpPr/>
          <p:nvPr/>
        </p:nvSpPr>
        <p:spPr>
          <a:xfrm>
            <a:off x="2468880" y="1344168"/>
            <a:ext cx="2029968" cy="1417320"/>
          </a:xfrm>
          <a:prstGeom prst="roundRect">
            <a:avLst>
              <a:gd name="adj" fmla="val 6452"/>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12" name="Text 10"/>
          <p:cNvSpPr/>
          <p:nvPr/>
        </p:nvSpPr>
        <p:spPr>
          <a:xfrm>
            <a:off x="2468880" y="1408176"/>
            <a:ext cx="2029968" cy="640080"/>
          </a:xfrm>
          <a:prstGeom prst="rect">
            <a:avLst/>
          </a:prstGeom>
          <a:noFill/>
          <a:ln/>
        </p:spPr>
        <p:txBody>
          <a:bodyPr wrap="square" lIns="0" tIns="0" rIns="0" bIns="0" rtlCol="0" anchor="ctr"/>
          <a:lstStyle/>
          <a:p>
            <a:pPr algn="ctr" indent="0" marL="0">
              <a:buNone/>
            </a:pPr>
            <a:r>
              <a:rPr lang="en-US" sz="3200" b="1" dirty="0">
                <a:solidFill>
                  <a:srgbClr val="0D2B5E"/>
                </a:solidFill>
                <a:latin typeface="Calibri" pitchFamily="34" charset="0"/>
                <a:ea typeface="Calibri" pitchFamily="34" charset="-122"/>
                <a:cs typeface="Calibri" pitchFamily="34" charset="-120"/>
              </a:rPr>
              <a:t>70%</a:t>
            </a:r>
            <a:endParaRPr lang="en-US" sz="3200" dirty="0"/>
          </a:p>
        </p:txBody>
      </p:sp>
      <p:sp>
        <p:nvSpPr>
          <p:cNvPr id="13" name="Text 11"/>
          <p:cNvSpPr/>
          <p:nvPr/>
        </p:nvSpPr>
        <p:spPr>
          <a:xfrm>
            <a:off x="2468880" y="2048256"/>
            <a:ext cx="2029968" cy="384048"/>
          </a:xfrm>
          <a:prstGeom prst="rect">
            <a:avLst/>
          </a:prstGeom>
          <a:noFill/>
          <a:ln/>
        </p:spPr>
        <p:txBody>
          <a:bodyPr wrap="square" lIns="0" tIns="0" rIns="0" bIns="0" rtlCol="0" anchor="ctr"/>
          <a:lstStyle/>
          <a:p>
            <a:pPr algn="ctr" indent="0" marL="0">
              <a:buNone/>
            </a:pPr>
            <a:r>
              <a:rPr lang="en-US" sz="1000" b="1" dirty="0">
                <a:solidFill>
                  <a:srgbClr val="0D2B5E"/>
                </a:solidFill>
                <a:latin typeface="Calibri" pitchFamily="34" charset="0"/>
                <a:ea typeface="Calibri" pitchFamily="34" charset="-122"/>
                <a:cs typeface="Calibri" pitchFamily="34" charset="-120"/>
              </a:rPr>
              <a:t>Reduction in</a:t>
            </a:r>
            <a:endParaRPr lang="en-US" sz="1000" dirty="0"/>
          </a:p>
          <a:p>
            <a:pPr algn="ctr" indent="0" marL="0">
              <a:buNone/>
            </a:pPr>
            <a:r>
              <a:rPr lang="en-US" sz="1000" b="1" dirty="0">
                <a:solidFill>
                  <a:srgbClr val="0D2B5E"/>
                </a:solidFill>
                <a:latin typeface="Calibri" pitchFamily="34" charset="0"/>
                <a:ea typeface="Calibri" pitchFamily="34" charset="-122"/>
                <a:cs typeface="Calibri" pitchFamily="34" charset="-120"/>
              </a:rPr>
              <a:t>manual prep</a:t>
            </a:r>
            <a:endParaRPr lang="en-US" sz="1000" dirty="0"/>
          </a:p>
        </p:txBody>
      </p:sp>
      <p:sp>
        <p:nvSpPr>
          <p:cNvPr id="14" name="Text 12"/>
          <p:cNvSpPr/>
          <p:nvPr/>
        </p:nvSpPr>
        <p:spPr>
          <a:xfrm>
            <a:off x="2468880" y="2432304"/>
            <a:ext cx="2029968" cy="256032"/>
          </a:xfrm>
          <a:prstGeom prst="rect">
            <a:avLst/>
          </a:prstGeom>
          <a:noFill/>
          <a:ln/>
        </p:spPr>
        <p:txBody>
          <a:bodyPr wrap="square" lIns="0" tIns="0" rIns="0" bIns="0" rtlCol="0" anchor="ctr"/>
          <a:lstStyle/>
          <a:p>
            <a:pPr algn="ctr" indent="0" marL="0">
              <a:buNone/>
            </a:pPr>
            <a:r>
              <a:rPr lang="en-US" sz="850" dirty="0">
                <a:solidFill>
                  <a:srgbClr val="5B7FA6"/>
                </a:solidFill>
                <a:latin typeface="Calibri" pitchFamily="34" charset="0"/>
                <a:ea typeface="Calibri" pitchFamily="34" charset="-122"/>
                <a:cs typeface="Calibri" pitchFamily="34" charset="-120"/>
              </a:rPr>
              <a:t>Per Scrum ceremony</a:t>
            </a:r>
            <a:endParaRPr lang="en-US" sz="850" dirty="0"/>
          </a:p>
        </p:txBody>
      </p:sp>
      <p:sp>
        <p:nvSpPr>
          <p:cNvPr id="15" name="Shape 13"/>
          <p:cNvSpPr/>
          <p:nvPr/>
        </p:nvSpPr>
        <p:spPr>
          <a:xfrm>
            <a:off x="4617720" y="1344168"/>
            <a:ext cx="2029968" cy="1417320"/>
          </a:xfrm>
          <a:prstGeom prst="roundRect">
            <a:avLst>
              <a:gd name="adj" fmla="val 6452"/>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16" name="Text 14"/>
          <p:cNvSpPr/>
          <p:nvPr/>
        </p:nvSpPr>
        <p:spPr>
          <a:xfrm>
            <a:off x="4617720" y="1408176"/>
            <a:ext cx="2029968" cy="640080"/>
          </a:xfrm>
          <a:prstGeom prst="rect">
            <a:avLst/>
          </a:prstGeom>
          <a:noFill/>
          <a:ln/>
        </p:spPr>
        <p:txBody>
          <a:bodyPr wrap="square" lIns="0" tIns="0" rIns="0" bIns="0" rtlCol="0" anchor="ctr"/>
          <a:lstStyle/>
          <a:p>
            <a:pPr algn="ctr" indent="0" marL="0">
              <a:buNone/>
            </a:pPr>
            <a:r>
              <a:rPr lang="en-US" sz="3200" b="1" dirty="0">
                <a:solidFill>
                  <a:srgbClr val="1E88E5"/>
                </a:solidFill>
                <a:latin typeface="Calibri" pitchFamily="34" charset="0"/>
                <a:ea typeface="Calibri" pitchFamily="34" charset="-122"/>
                <a:cs typeface="Calibri" pitchFamily="34" charset="-120"/>
              </a:rPr>
              <a:t>~30s</a:t>
            </a:r>
            <a:endParaRPr lang="en-US" sz="3200" dirty="0"/>
          </a:p>
        </p:txBody>
      </p:sp>
      <p:sp>
        <p:nvSpPr>
          <p:cNvPr id="17" name="Text 15"/>
          <p:cNvSpPr/>
          <p:nvPr/>
        </p:nvSpPr>
        <p:spPr>
          <a:xfrm>
            <a:off x="4617720" y="2048256"/>
            <a:ext cx="2029968" cy="384048"/>
          </a:xfrm>
          <a:prstGeom prst="rect">
            <a:avLst/>
          </a:prstGeom>
          <a:noFill/>
          <a:ln/>
        </p:spPr>
        <p:txBody>
          <a:bodyPr wrap="square" lIns="0" tIns="0" rIns="0" bIns="0" rtlCol="0" anchor="ctr"/>
          <a:lstStyle/>
          <a:p>
            <a:pPr algn="ctr" indent="0" marL="0">
              <a:buNone/>
            </a:pPr>
            <a:r>
              <a:rPr lang="en-US" sz="1000" b="1" dirty="0">
                <a:solidFill>
                  <a:srgbClr val="0D2B5E"/>
                </a:solidFill>
                <a:latin typeface="Calibri" pitchFamily="34" charset="0"/>
                <a:ea typeface="Calibri" pitchFamily="34" charset="-122"/>
                <a:cs typeface="Calibri" pitchFamily="34" charset="-120"/>
              </a:rPr>
              <a:t>To generate</a:t>
            </a:r>
            <a:endParaRPr lang="en-US" sz="1000" dirty="0"/>
          </a:p>
          <a:p>
            <a:pPr algn="ctr" indent="0" marL="0">
              <a:buNone/>
            </a:pPr>
            <a:r>
              <a:rPr lang="en-US" sz="1000" b="1" dirty="0">
                <a:solidFill>
                  <a:srgbClr val="0D2B5E"/>
                </a:solidFill>
                <a:latin typeface="Calibri" pitchFamily="34" charset="0"/>
                <a:ea typeface="Calibri" pitchFamily="34" charset="-122"/>
                <a:cs typeface="Calibri" pitchFamily="34" charset="-120"/>
              </a:rPr>
              <a:t>7 SDLC tasks</a:t>
            </a:r>
            <a:endParaRPr lang="en-US" sz="1000" dirty="0"/>
          </a:p>
        </p:txBody>
      </p:sp>
      <p:sp>
        <p:nvSpPr>
          <p:cNvPr id="18" name="Text 16"/>
          <p:cNvSpPr/>
          <p:nvPr/>
        </p:nvSpPr>
        <p:spPr>
          <a:xfrm>
            <a:off x="4617720" y="2432304"/>
            <a:ext cx="2029968" cy="256032"/>
          </a:xfrm>
          <a:prstGeom prst="rect">
            <a:avLst/>
          </a:prstGeom>
          <a:noFill/>
          <a:ln/>
        </p:spPr>
        <p:txBody>
          <a:bodyPr wrap="square" lIns="0" tIns="0" rIns="0" bIns="0" rtlCol="0" anchor="ctr"/>
          <a:lstStyle/>
          <a:p>
            <a:pPr algn="ctr" indent="0" marL="0">
              <a:buNone/>
            </a:pPr>
            <a:r>
              <a:rPr lang="en-US" sz="850" dirty="0">
                <a:solidFill>
                  <a:srgbClr val="5B7FA6"/>
                </a:solidFill>
                <a:latin typeface="Calibri" pitchFamily="34" charset="0"/>
                <a:ea typeface="Calibri" pitchFamily="34" charset="-122"/>
                <a:cs typeface="Calibri" pitchFamily="34" charset="-120"/>
              </a:rPr>
              <a:t>vs. 45–60 min manually</a:t>
            </a:r>
            <a:endParaRPr lang="en-US" sz="850" dirty="0"/>
          </a:p>
        </p:txBody>
      </p:sp>
      <p:sp>
        <p:nvSpPr>
          <p:cNvPr id="19" name="Shape 17"/>
          <p:cNvSpPr/>
          <p:nvPr/>
        </p:nvSpPr>
        <p:spPr>
          <a:xfrm>
            <a:off x="6766560" y="1344168"/>
            <a:ext cx="2029968" cy="1417320"/>
          </a:xfrm>
          <a:prstGeom prst="roundRect">
            <a:avLst>
              <a:gd name="adj" fmla="val 6452"/>
            </a:avLst>
          </a:prstGeom>
          <a:solidFill>
            <a:srgbClr val="E3F0FF"/>
          </a:solidFill>
          <a:ln w="12700">
            <a:solidFill>
              <a:srgbClr val="DBEAFE"/>
            </a:solidFill>
            <a:prstDash val="solid"/>
          </a:ln>
          <a:effectLst>
            <a:outerShdw sx="100000" sy="100000" kx="0" ky="0" algn="bl" rotWithShape="0" blurRad="101600" dist="38100" dir="2700000">
              <a:srgbClr val="000000">
                <a:alpha val="10000"/>
              </a:srgbClr>
            </a:outerShdw>
          </a:effectLst>
        </p:spPr>
      </p:sp>
      <p:sp>
        <p:nvSpPr>
          <p:cNvPr id="20" name="Text 18"/>
          <p:cNvSpPr/>
          <p:nvPr/>
        </p:nvSpPr>
        <p:spPr>
          <a:xfrm>
            <a:off x="6766560" y="1408176"/>
            <a:ext cx="2029968" cy="640080"/>
          </a:xfrm>
          <a:prstGeom prst="rect">
            <a:avLst/>
          </a:prstGeom>
          <a:noFill/>
          <a:ln/>
        </p:spPr>
        <p:txBody>
          <a:bodyPr wrap="square" lIns="0" tIns="0" rIns="0" bIns="0" rtlCol="0" anchor="ctr"/>
          <a:lstStyle/>
          <a:p>
            <a:pPr algn="ctr" indent="0" marL="0">
              <a:buNone/>
            </a:pPr>
            <a:r>
              <a:rPr lang="en-US" sz="3200" b="1" dirty="0">
                <a:solidFill>
                  <a:srgbClr val="334E68"/>
                </a:solidFill>
                <a:latin typeface="Calibri" pitchFamily="34" charset="0"/>
                <a:ea typeface="Calibri" pitchFamily="34" charset="-122"/>
                <a:cs typeface="Calibri" pitchFamily="34" charset="-120"/>
              </a:rPr>
              <a:t>3×</a:t>
            </a:r>
            <a:endParaRPr lang="en-US" sz="3200" dirty="0"/>
          </a:p>
        </p:txBody>
      </p:sp>
      <p:sp>
        <p:nvSpPr>
          <p:cNvPr id="21" name="Text 19"/>
          <p:cNvSpPr/>
          <p:nvPr/>
        </p:nvSpPr>
        <p:spPr>
          <a:xfrm>
            <a:off x="6766560" y="2048256"/>
            <a:ext cx="2029968" cy="384048"/>
          </a:xfrm>
          <a:prstGeom prst="rect">
            <a:avLst/>
          </a:prstGeom>
          <a:noFill/>
          <a:ln/>
        </p:spPr>
        <p:txBody>
          <a:bodyPr wrap="square" lIns="0" tIns="0" rIns="0" bIns="0" rtlCol="0" anchor="ctr"/>
          <a:lstStyle/>
          <a:p>
            <a:pPr algn="ctr" indent="0" marL="0">
              <a:buNone/>
            </a:pPr>
            <a:r>
              <a:rPr lang="en-US" sz="1000" b="1" dirty="0">
                <a:solidFill>
                  <a:srgbClr val="0D2B5E"/>
                </a:solidFill>
                <a:latin typeface="Calibri" pitchFamily="34" charset="0"/>
                <a:ea typeface="Calibri" pitchFamily="34" charset="-122"/>
                <a:cs typeface="Calibri" pitchFamily="34" charset="-120"/>
              </a:rPr>
              <a:t>Teams per</a:t>
            </a:r>
            <a:endParaRPr lang="en-US" sz="1000" dirty="0"/>
          </a:p>
          <a:p>
            <a:pPr algn="ctr" indent="0" marL="0">
              <a:buNone/>
            </a:pPr>
            <a:r>
              <a:rPr lang="en-US" sz="1000" b="1" dirty="0">
                <a:solidFill>
                  <a:srgbClr val="0D2B5E"/>
                </a:solidFill>
                <a:latin typeface="Calibri" pitchFamily="34" charset="0"/>
                <a:ea typeface="Calibri" pitchFamily="34" charset="-122"/>
                <a:cs typeface="Calibri" pitchFamily="34" charset="-120"/>
              </a:rPr>
              <a:t>Scrum Master</a:t>
            </a:r>
            <a:endParaRPr lang="en-US" sz="1000" dirty="0"/>
          </a:p>
        </p:txBody>
      </p:sp>
      <p:sp>
        <p:nvSpPr>
          <p:cNvPr id="22" name="Text 20"/>
          <p:cNvSpPr/>
          <p:nvPr/>
        </p:nvSpPr>
        <p:spPr>
          <a:xfrm>
            <a:off x="6766560" y="2432304"/>
            <a:ext cx="2029968" cy="256032"/>
          </a:xfrm>
          <a:prstGeom prst="rect">
            <a:avLst/>
          </a:prstGeom>
          <a:noFill/>
          <a:ln/>
        </p:spPr>
        <p:txBody>
          <a:bodyPr wrap="square" lIns="0" tIns="0" rIns="0" bIns="0" rtlCol="0" anchor="ctr"/>
          <a:lstStyle/>
          <a:p>
            <a:pPr algn="ctr" indent="0" marL="0">
              <a:buNone/>
            </a:pPr>
            <a:r>
              <a:rPr lang="en-US" sz="850" dirty="0">
                <a:solidFill>
                  <a:srgbClr val="5B7FA6"/>
                </a:solidFill>
                <a:latin typeface="Calibri" pitchFamily="34" charset="0"/>
                <a:ea typeface="Calibri" pitchFamily="34" charset="-122"/>
                <a:cs typeface="Calibri" pitchFamily="34" charset="-120"/>
              </a:rPr>
              <a:t>Up from 1 to 2–3 teams</a:t>
            </a:r>
            <a:endParaRPr lang="en-US" sz="850" dirty="0"/>
          </a:p>
        </p:txBody>
      </p:sp>
      <p:sp>
        <p:nvSpPr>
          <p:cNvPr id="23" name="Text 21"/>
          <p:cNvSpPr/>
          <p:nvPr/>
        </p:nvSpPr>
        <p:spPr>
          <a:xfrm>
            <a:off x="320040" y="2852928"/>
            <a:ext cx="4572000" cy="310896"/>
          </a:xfrm>
          <a:prstGeom prst="rect">
            <a:avLst/>
          </a:prstGeom>
          <a:noFill/>
          <a:ln/>
        </p:spPr>
        <p:txBody>
          <a:bodyPr wrap="square" rtlCol="0" anchor="ctr"/>
          <a:lstStyle/>
          <a:p>
            <a:pPr indent="0" marL="0">
              <a:buNone/>
            </a:pPr>
            <a:r>
              <a:rPr lang="en-US" sz="1300" b="1" dirty="0">
                <a:solidFill>
                  <a:srgbClr val="0D2B5E"/>
                </a:solidFill>
                <a:latin typeface="Calibri" pitchFamily="34" charset="0"/>
                <a:ea typeface="Calibri" pitchFamily="34" charset="-122"/>
                <a:cs typeface="Calibri" pitchFamily="34" charset="-120"/>
              </a:rPr>
              <a:t>Before vs. After — Per Sprint</a:t>
            </a:r>
            <a:endParaRPr lang="en-US" sz="1300" dirty="0"/>
          </a:p>
        </p:txBody>
      </p:sp>
      <p:sp>
        <p:nvSpPr>
          <p:cNvPr id="24" name="Shape 22"/>
          <p:cNvSpPr/>
          <p:nvPr/>
        </p:nvSpPr>
        <p:spPr>
          <a:xfrm>
            <a:off x="320040" y="3200400"/>
            <a:ext cx="8449056" cy="214884"/>
          </a:xfrm>
          <a:prstGeom prst="rect">
            <a:avLst/>
          </a:prstGeom>
          <a:solidFill>
            <a:srgbClr val="0D2B5E"/>
          </a:solidFill>
          <a:ln w="12700">
            <a:solidFill>
              <a:srgbClr val="DBEAFE"/>
            </a:solidFill>
            <a:prstDash val="solid"/>
          </a:ln>
        </p:spPr>
      </p:sp>
      <p:sp>
        <p:nvSpPr>
          <p:cNvPr id="25" name="Text 23"/>
          <p:cNvSpPr/>
          <p:nvPr/>
        </p:nvSpPr>
        <p:spPr>
          <a:xfrm>
            <a:off x="365760" y="3209544"/>
            <a:ext cx="303580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Activity</a:t>
            </a:r>
            <a:endParaRPr lang="en-US" sz="950" dirty="0"/>
          </a:p>
        </p:txBody>
      </p:sp>
      <p:sp>
        <p:nvSpPr>
          <p:cNvPr id="26" name="Text 24"/>
          <p:cNvSpPr/>
          <p:nvPr/>
        </p:nvSpPr>
        <p:spPr>
          <a:xfrm>
            <a:off x="3474720" y="3209544"/>
            <a:ext cx="175564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Manual (hrs)</a:t>
            </a:r>
            <a:endParaRPr lang="en-US" sz="950" dirty="0"/>
          </a:p>
        </p:txBody>
      </p:sp>
      <p:sp>
        <p:nvSpPr>
          <p:cNvPr id="27" name="Text 25"/>
          <p:cNvSpPr/>
          <p:nvPr/>
        </p:nvSpPr>
        <p:spPr>
          <a:xfrm>
            <a:off x="5303520" y="3209544"/>
            <a:ext cx="202996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@ScrumAgent (hrs)</a:t>
            </a:r>
            <a:endParaRPr lang="en-US" sz="950" dirty="0"/>
          </a:p>
        </p:txBody>
      </p:sp>
      <p:sp>
        <p:nvSpPr>
          <p:cNvPr id="28" name="Text 26"/>
          <p:cNvSpPr/>
          <p:nvPr/>
        </p:nvSpPr>
        <p:spPr>
          <a:xfrm>
            <a:off x="7406640" y="3209544"/>
            <a:ext cx="129844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Time Saved</a:t>
            </a:r>
            <a:endParaRPr lang="en-US" sz="950" dirty="0"/>
          </a:p>
        </p:txBody>
      </p:sp>
      <p:sp>
        <p:nvSpPr>
          <p:cNvPr id="29" name="Shape 27"/>
          <p:cNvSpPr/>
          <p:nvPr/>
        </p:nvSpPr>
        <p:spPr>
          <a:xfrm>
            <a:off x="320040" y="3415284"/>
            <a:ext cx="8449056" cy="214884"/>
          </a:xfrm>
          <a:prstGeom prst="rect">
            <a:avLst/>
          </a:prstGeom>
          <a:solidFill>
            <a:srgbClr val="FFFFFF"/>
          </a:solidFill>
          <a:ln w="12700">
            <a:solidFill>
              <a:srgbClr val="DBEAFE"/>
            </a:solidFill>
            <a:prstDash val="solid"/>
          </a:ln>
        </p:spPr>
      </p:sp>
      <p:sp>
        <p:nvSpPr>
          <p:cNvPr id="30" name="Text 28"/>
          <p:cNvSpPr/>
          <p:nvPr/>
        </p:nvSpPr>
        <p:spPr>
          <a:xfrm>
            <a:off x="365760" y="3424428"/>
            <a:ext cx="303580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Backlog Refinement</a:t>
            </a:r>
            <a:endParaRPr lang="en-US" sz="950" dirty="0"/>
          </a:p>
        </p:txBody>
      </p:sp>
      <p:sp>
        <p:nvSpPr>
          <p:cNvPr id="31" name="Text 29"/>
          <p:cNvSpPr/>
          <p:nvPr/>
        </p:nvSpPr>
        <p:spPr>
          <a:xfrm>
            <a:off x="3474720" y="3424428"/>
            <a:ext cx="17556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3–5</a:t>
            </a:r>
            <a:endParaRPr lang="en-US" sz="950" dirty="0"/>
          </a:p>
        </p:txBody>
      </p:sp>
      <p:sp>
        <p:nvSpPr>
          <p:cNvPr id="32" name="Text 30"/>
          <p:cNvSpPr/>
          <p:nvPr/>
        </p:nvSpPr>
        <p:spPr>
          <a:xfrm>
            <a:off x="5303520" y="3424428"/>
            <a:ext cx="202996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&lt; 0.1</a:t>
            </a:r>
            <a:endParaRPr lang="en-US" sz="950" dirty="0"/>
          </a:p>
        </p:txBody>
      </p:sp>
      <p:sp>
        <p:nvSpPr>
          <p:cNvPr id="33" name="Text 31"/>
          <p:cNvSpPr/>
          <p:nvPr/>
        </p:nvSpPr>
        <p:spPr>
          <a:xfrm>
            <a:off x="7406640" y="3424428"/>
            <a:ext cx="12984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~4.5h</a:t>
            </a:r>
            <a:endParaRPr lang="en-US" sz="950" dirty="0"/>
          </a:p>
        </p:txBody>
      </p:sp>
      <p:sp>
        <p:nvSpPr>
          <p:cNvPr id="34" name="Shape 32"/>
          <p:cNvSpPr/>
          <p:nvPr/>
        </p:nvSpPr>
        <p:spPr>
          <a:xfrm>
            <a:off x="320040" y="3630168"/>
            <a:ext cx="8449056" cy="214884"/>
          </a:xfrm>
          <a:prstGeom prst="rect">
            <a:avLst/>
          </a:prstGeom>
          <a:solidFill>
            <a:srgbClr val="E3F0FF"/>
          </a:solidFill>
          <a:ln w="12700">
            <a:solidFill>
              <a:srgbClr val="DBEAFE"/>
            </a:solidFill>
            <a:prstDash val="solid"/>
          </a:ln>
        </p:spPr>
      </p:sp>
      <p:sp>
        <p:nvSpPr>
          <p:cNvPr id="35" name="Text 33"/>
          <p:cNvSpPr/>
          <p:nvPr/>
        </p:nvSpPr>
        <p:spPr>
          <a:xfrm>
            <a:off x="365760" y="3639312"/>
            <a:ext cx="303580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Poker Planning</a:t>
            </a:r>
            <a:endParaRPr lang="en-US" sz="950" dirty="0"/>
          </a:p>
        </p:txBody>
      </p:sp>
      <p:sp>
        <p:nvSpPr>
          <p:cNvPr id="36" name="Text 34"/>
          <p:cNvSpPr/>
          <p:nvPr/>
        </p:nvSpPr>
        <p:spPr>
          <a:xfrm>
            <a:off x="3474720" y="3639312"/>
            <a:ext cx="17556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2–4</a:t>
            </a:r>
            <a:endParaRPr lang="en-US" sz="950" dirty="0"/>
          </a:p>
        </p:txBody>
      </p:sp>
      <p:sp>
        <p:nvSpPr>
          <p:cNvPr id="37" name="Text 35"/>
          <p:cNvSpPr/>
          <p:nvPr/>
        </p:nvSpPr>
        <p:spPr>
          <a:xfrm>
            <a:off x="5303520" y="3639312"/>
            <a:ext cx="202996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&lt; 0.1</a:t>
            </a:r>
            <a:endParaRPr lang="en-US" sz="950" dirty="0"/>
          </a:p>
        </p:txBody>
      </p:sp>
      <p:sp>
        <p:nvSpPr>
          <p:cNvPr id="38" name="Text 36"/>
          <p:cNvSpPr/>
          <p:nvPr/>
        </p:nvSpPr>
        <p:spPr>
          <a:xfrm>
            <a:off x="7406640" y="3639312"/>
            <a:ext cx="12984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~3h</a:t>
            </a:r>
            <a:endParaRPr lang="en-US" sz="950" dirty="0"/>
          </a:p>
        </p:txBody>
      </p:sp>
      <p:sp>
        <p:nvSpPr>
          <p:cNvPr id="39" name="Shape 37"/>
          <p:cNvSpPr/>
          <p:nvPr/>
        </p:nvSpPr>
        <p:spPr>
          <a:xfrm>
            <a:off x="320040" y="3845052"/>
            <a:ext cx="8449056" cy="214884"/>
          </a:xfrm>
          <a:prstGeom prst="rect">
            <a:avLst/>
          </a:prstGeom>
          <a:solidFill>
            <a:srgbClr val="FFFFFF"/>
          </a:solidFill>
          <a:ln w="12700">
            <a:solidFill>
              <a:srgbClr val="DBEAFE"/>
            </a:solidFill>
            <a:prstDash val="solid"/>
          </a:ln>
        </p:spPr>
      </p:sp>
      <p:sp>
        <p:nvSpPr>
          <p:cNvPr id="40" name="Text 38"/>
          <p:cNvSpPr/>
          <p:nvPr/>
        </p:nvSpPr>
        <p:spPr>
          <a:xfrm>
            <a:off x="365760" y="3854196"/>
            <a:ext cx="303580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Sprint Planning+Tasks</a:t>
            </a:r>
            <a:endParaRPr lang="en-US" sz="950" dirty="0"/>
          </a:p>
        </p:txBody>
      </p:sp>
      <p:sp>
        <p:nvSpPr>
          <p:cNvPr id="41" name="Text 39"/>
          <p:cNvSpPr/>
          <p:nvPr/>
        </p:nvSpPr>
        <p:spPr>
          <a:xfrm>
            <a:off x="3474720" y="3854196"/>
            <a:ext cx="17556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4–8</a:t>
            </a:r>
            <a:endParaRPr lang="en-US" sz="950" dirty="0"/>
          </a:p>
        </p:txBody>
      </p:sp>
      <p:sp>
        <p:nvSpPr>
          <p:cNvPr id="42" name="Text 40"/>
          <p:cNvSpPr/>
          <p:nvPr/>
        </p:nvSpPr>
        <p:spPr>
          <a:xfrm>
            <a:off x="5303520" y="3854196"/>
            <a:ext cx="202996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0.5</a:t>
            </a:r>
            <a:endParaRPr lang="en-US" sz="950" dirty="0"/>
          </a:p>
        </p:txBody>
      </p:sp>
      <p:sp>
        <p:nvSpPr>
          <p:cNvPr id="43" name="Text 41"/>
          <p:cNvSpPr/>
          <p:nvPr/>
        </p:nvSpPr>
        <p:spPr>
          <a:xfrm>
            <a:off x="7406640" y="3854196"/>
            <a:ext cx="12984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~6h</a:t>
            </a:r>
            <a:endParaRPr lang="en-US" sz="950" dirty="0"/>
          </a:p>
        </p:txBody>
      </p:sp>
      <p:sp>
        <p:nvSpPr>
          <p:cNvPr id="44" name="Shape 42"/>
          <p:cNvSpPr/>
          <p:nvPr/>
        </p:nvSpPr>
        <p:spPr>
          <a:xfrm>
            <a:off x="320040" y="4059936"/>
            <a:ext cx="8449056" cy="214884"/>
          </a:xfrm>
          <a:prstGeom prst="rect">
            <a:avLst/>
          </a:prstGeom>
          <a:solidFill>
            <a:srgbClr val="E3F0FF"/>
          </a:solidFill>
          <a:ln w="12700">
            <a:solidFill>
              <a:srgbClr val="DBEAFE"/>
            </a:solidFill>
            <a:prstDash val="solid"/>
          </a:ln>
        </p:spPr>
      </p:sp>
      <p:sp>
        <p:nvSpPr>
          <p:cNvPr id="45" name="Text 43"/>
          <p:cNvSpPr/>
          <p:nvPr/>
        </p:nvSpPr>
        <p:spPr>
          <a:xfrm>
            <a:off x="365760" y="4069080"/>
            <a:ext cx="303580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Daily Standup prep</a:t>
            </a:r>
            <a:endParaRPr lang="en-US" sz="950" dirty="0"/>
          </a:p>
        </p:txBody>
      </p:sp>
      <p:sp>
        <p:nvSpPr>
          <p:cNvPr id="46" name="Text 44"/>
          <p:cNvSpPr/>
          <p:nvPr/>
        </p:nvSpPr>
        <p:spPr>
          <a:xfrm>
            <a:off x="3474720" y="4069080"/>
            <a:ext cx="17556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1–2</a:t>
            </a:r>
            <a:endParaRPr lang="en-US" sz="950" dirty="0"/>
          </a:p>
        </p:txBody>
      </p:sp>
      <p:sp>
        <p:nvSpPr>
          <p:cNvPr id="47" name="Text 45"/>
          <p:cNvSpPr/>
          <p:nvPr/>
        </p:nvSpPr>
        <p:spPr>
          <a:xfrm>
            <a:off x="5303520" y="4069080"/>
            <a:ext cx="202996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0</a:t>
            </a:r>
            <a:endParaRPr lang="en-US" sz="950" dirty="0"/>
          </a:p>
        </p:txBody>
      </p:sp>
      <p:sp>
        <p:nvSpPr>
          <p:cNvPr id="48" name="Text 46"/>
          <p:cNvSpPr/>
          <p:nvPr/>
        </p:nvSpPr>
        <p:spPr>
          <a:xfrm>
            <a:off x="7406640" y="4069080"/>
            <a:ext cx="12984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~1.5h</a:t>
            </a:r>
            <a:endParaRPr lang="en-US" sz="950" dirty="0"/>
          </a:p>
        </p:txBody>
      </p:sp>
      <p:sp>
        <p:nvSpPr>
          <p:cNvPr id="49" name="Shape 47"/>
          <p:cNvSpPr/>
          <p:nvPr/>
        </p:nvSpPr>
        <p:spPr>
          <a:xfrm>
            <a:off x="320040" y="4274820"/>
            <a:ext cx="8449056" cy="214884"/>
          </a:xfrm>
          <a:prstGeom prst="rect">
            <a:avLst/>
          </a:prstGeom>
          <a:solidFill>
            <a:srgbClr val="FFFFFF"/>
          </a:solidFill>
          <a:ln w="12700">
            <a:solidFill>
              <a:srgbClr val="DBEAFE"/>
            </a:solidFill>
            <a:prstDash val="solid"/>
          </a:ln>
        </p:spPr>
      </p:sp>
      <p:sp>
        <p:nvSpPr>
          <p:cNvPr id="50" name="Text 48"/>
          <p:cNvSpPr/>
          <p:nvPr/>
        </p:nvSpPr>
        <p:spPr>
          <a:xfrm>
            <a:off x="365760" y="4283964"/>
            <a:ext cx="303580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Retrospective</a:t>
            </a:r>
            <a:endParaRPr lang="en-US" sz="950" dirty="0"/>
          </a:p>
        </p:txBody>
      </p:sp>
      <p:sp>
        <p:nvSpPr>
          <p:cNvPr id="51" name="Text 49"/>
          <p:cNvSpPr/>
          <p:nvPr/>
        </p:nvSpPr>
        <p:spPr>
          <a:xfrm>
            <a:off x="3474720" y="4283964"/>
            <a:ext cx="17556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2–3</a:t>
            </a:r>
            <a:endParaRPr lang="en-US" sz="950" dirty="0"/>
          </a:p>
        </p:txBody>
      </p:sp>
      <p:sp>
        <p:nvSpPr>
          <p:cNvPr id="52" name="Text 50"/>
          <p:cNvSpPr/>
          <p:nvPr/>
        </p:nvSpPr>
        <p:spPr>
          <a:xfrm>
            <a:off x="5303520" y="4283964"/>
            <a:ext cx="202996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0.3</a:t>
            </a:r>
            <a:endParaRPr lang="en-US" sz="950" dirty="0"/>
          </a:p>
        </p:txBody>
      </p:sp>
      <p:sp>
        <p:nvSpPr>
          <p:cNvPr id="53" name="Text 51"/>
          <p:cNvSpPr/>
          <p:nvPr/>
        </p:nvSpPr>
        <p:spPr>
          <a:xfrm>
            <a:off x="7406640" y="4283964"/>
            <a:ext cx="12984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~2.3h</a:t>
            </a:r>
            <a:endParaRPr lang="en-US" sz="950" dirty="0"/>
          </a:p>
        </p:txBody>
      </p:sp>
      <p:sp>
        <p:nvSpPr>
          <p:cNvPr id="54" name="Shape 52"/>
          <p:cNvSpPr/>
          <p:nvPr/>
        </p:nvSpPr>
        <p:spPr>
          <a:xfrm>
            <a:off x="320040" y="4489704"/>
            <a:ext cx="8449056" cy="214884"/>
          </a:xfrm>
          <a:prstGeom prst="rect">
            <a:avLst/>
          </a:prstGeom>
          <a:solidFill>
            <a:srgbClr val="E3F0FF"/>
          </a:solidFill>
          <a:ln w="12700">
            <a:solidFill>
              <a:srgbClr val="DBEAFE"/>
            </a:solidFill>
            <a:prstDash val="solid"/>
          </a:ln>
        </p:spPr>
      </p:sp>
      <p:sp>
        <p:nvSpPr>
          <p:cNvPr id="55" name="Text 53"/>
          <p:cNvSpPr/>
          <p:nvPr/>
        </p:nvSpPr>
        <p:spPr>
          <a:xfrm>
            <a:off x="365760" y="4498848"/>
            <a:ext cx="303580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Release Notes</a:t>
            </a:r>
            <a:endParaRPr lang="en-US" sz="950" dirty="0"/>
          </a:p>
        </p:txBody>
      </p:sp>
      <p:sp>
        <p:nvSpPr>
          <p:cNvPr id="56" name="Text 54"/>
          <p:cNvSpPr/>
          <p:nvPr/>
        </p:nvSpPr>
        <p:spPr>
          <a:xfrm>
            <a:off x="3474720" y="4498848"/>
            <a:ext cx="17556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2–4</a:t>
            </a:r>
            <a:endParaRPr lang="en-US" sz="950" dirty="0"/>
          </a:p>
        </p:txBody>
      </p:sp>
      <p:sp>
        <p:nvSpPr>
          <p:cNvPr id="57" name="Text 55"/>
          <p:cNvSpPr/>
          <p:nvPr/>
        </p:nvSpPr>
        <p:spPr>
          <a:xfrm>
            <a:off x="5303520" y="4498848"/>
            <a:ext cx="202996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0.1</a:t>
            </a:r>
            <a:endParaRPr lang="en-US" sz="950" dirty="0"/>
          </a:p>
        </p:txBody>
      </p:sp>
      <p:sp>
        <p:nvSpPr>
          <p:cNvPr id="58" name="Text 56"/>
          <p:cNvSpPr/>
          <p:nvPr/>
        </p:nvSpPr>
        <p:spPr>
          <a:xfrm>
            <a:off x="7406640" y="4498848"/>
            <a:ext cx="1298448" cy="201168"/>
          </a:xfrm>
          <a:prstGeom prst="rect">
            <a:avLst/>
          </a:prstGeom>
          <a:noFill/>
          <a:ln/>
        </p:spPr>
        <p:txBody>
          <a:bodyPr wrap="square" lIns="0" tIns="0" rIns="0" bIns="0" rtlCol="0" anchor="ctr"/>
          <a:lstStyle/>
          <a:p>
            <a:pPr indent="0" marL="0">
              <a:buNone/>
            </a:pPr>
            <a:r>
              <a:rPr lang="en-US" sz="950" dirty="0">
                <a:solidFill>
                  <a:srgbClr val="0D1B2A"/>
                </a:solidFill>
                <a:latin typeface="Calibri" pitchFamily="34" charset="0"/>
                <a:ea typeface="Calibri" pitchFamily="34" charset="-122"/>
                <a:cs typeface="Calibri" pitchFamily="34" charset="-120"/>
              </a:rPr>
              <a:t>~3h</a:t>
            </a:r>
            <a:endParaRPr lang="en-US" sz="950" dirty="0"/>
          </a:p>
        </p:txBody>
      </p:sp>
      <p:sp>
        <p:nvSpPr>
          <p:cNvPr id="59" name="Shape 57"/>
          <p:cNvSpPr/>
          <p:nvPr/>
        </p:nvSpPr>
        <p:spPr>
          <a:xfrm>
            <a:off x="320040" y="4704588"/>
            <a:ext cx="8449056" cy="214884"/>
          </a:xfrm>
          <a:prstGeom prst="rect">
            <a:avLst/>
          </a:prstGeom>
          <a:solidFill>
            <a:srgbClr val="1565C0"/>
          </a:solidFill>
          <a:ln w="12700">
            <a:solidFill>
              <a:srgbClr val="DBEAFE"/>
            </a:solidFill>
            <a:prstDash val="solid"/>
          </a:ln>
        </p:spPr>
      </p:sp>
      <p:sp>
        <p:nvSpPr>
          <p:cNvPr id="60" name="Text 58"/>
          <p:cNvSpPr/>
          <p:nvPr/>
        </p:nvSpPr>
        <p:spPr>
          <a:xfrm>
            <a:off x="365760" y="4713732"/>
            <a:ext cx="303580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p>
        </p:txBody>
      </p:sp>
      <p:sp>
        <p:nvSpPr>
          <p:cNvPr id="61" name="Text 59"/>
          <p:cNvSpPr/>
          <p:nvPr/>
        </p:nvSpPr>
        <p:spPr>
          <a:xfrm>
            <a:off x="3474720" y="4713732"/>
            <a:ext cx="175564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14–26</a:t>
            </a:r>
            <a:endParaRPr lang="en-US" sz="950" dirty="0"/>
          </a:p>
        </p:txBody>
      </p:sp>
      <p:sp>
        <p:nvSpPr>
          <p:cNvPr id="62" name="Text 60"/>
          <p:cNvSpPr/>
          <p:nvPr/>
        </p:nvSpPr>
        <p:spPr>
          <a:xfrm>
            <a:off x="5303520" y="4713732"/>
            <a:ext cx="202996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~1h</a:t>
            </a:r>
            <a:endParaRPr lang="en-US" sz="950" dirty="0"/>
          </a:p>
        </p:txBody>
      </p:sp>
      <p:sp>
        <p:nvSpPr>
          <p:cNvPr id="63" name="Text 61"/>
          <p:cNvSpPr/>
          <p:nvPr/>
        </p:nvSpPr>
        <p:spPr>
          <a:xfrm>
            <a:off x="7406640" y="4713732"/>
            <a:ext cx="1298448"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~20h/sprint</a:t>
            </a:r>
            <a:endParaRPr lang="en-US" sz="950" dirty="0"/>
          </a:p>
        </p:txBody>
      </p:sp>
      <p:sp>
        <p:nvSpPr>
          <p:cNvPr id="64" name="Shape 62"/>
          <p:cNvSpPr/>
          <p:nvPr/>
        </p:nvSpPr>
        <p:spPr>
          <a:xfrm>
            <a:off x="320040" y="4791456"/>
            <a:ext cx="8503920" cy="274320"/>
          </a:xfrm>
          <a:prstGeom prst="roundRect">
            <a:avLst>
              <a:gd name="adj" fmla="val 13333"/>
            </a:avLst>
          </a:prstGeom>
          <a:solidFill>
            <a:srgbClr val="0D2B5E"/>
          </a:solidFill>
          <a:ln w="12700">
            <a:solidFill>
              <a:srgbClr val="0D2B5E"/>
            </a:solidFill>
            <a:prstDash val="solid"/>
          </a:ln>
        </p:spPr>
      </p:sp>
      <p:sp>
        <p:nvSpPr>
          <p:cNvPr id="65" name="Text 63"/>
          <p:cNvSpPr/>
          <p:nvPr/>
        </p:nvSpPr>
        <p:spPr>
          <a:xfrm>
            <a:off x="411480" y="4800600"/>
            <a:ext cx="83210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Scaling to 5 teams: ~100h/sprint saved organisation-wide — equivalent to 2.5 Scrum Master days per sprint reinvested into coaching.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D2B5E"/>
          </a:solidFill>
          <a:ln w="12700">
            <a:solidFill>
              <a:srgbClr val="0D2B5E"/>
            </a:solidFill>
            <a:prstDash val="solid"/>
          </a:ln>
        </p:spPr>
      </p:sp>
      <p:sp>
        <p:nvSpPr>
          <p:cNvPr id="3" name="Shape 1"/>
          <p:cNvSpPr/>
          <p:nvPr/>
        </p:nvSpPr>
        <p:spPr>
          <a:xfrm>
            <a:off x="365760" y="301752"/>
            <a:ext cx="822960" cy="310896"/>
          </a:xfrm>
          <a:prstGeom prst="roundRect">
            <a:avLst>
              <a:gd name="adj" fmla="val 14706"/>
            </a:avLst>
          </a:prstGeom>
          <a:solidFill>
            <a:srgbClr val="1E88E5"/>
          </a:solidFill>
          <a:ln w="12700">
            <a:solidFill>
              <a:srgbClr val="1E88E5"/>
            </a:solidFill>
            <a:prstDash val="solid"/>
          </a:ln>
        </p:spPr>
      </p:sp>
      <p:sp>
        <p:nvSpPr>
          <p:cNvPr id="4" name="Text 2"/>
          <p:cNvSpPr/>
          <p:nvPr/>
        </p:nvSpPr>
        <p:spPr>
          <a:xfrm>
            <a:off x="365760" y="301752"/>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5" name="Text 3"/>
          <p:cNvSpPr/>
          <p:nvPr/>
        </p:nvSpPr>
        <p:spPr>
          <a:xfrm>
            <a:off x="1371600" y="246888"/>
            <a:ext cx="7406640" cy="493776"/>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Scrum Master Role — Enhanced, Not Replaced</a:t>
            </a:r>
            <a:endParaRPr lang="en-US" sz="2400" dirty="0"/>
          </a:p>
        </p:txBody>
      </p:sp>
      <p:sp>
        <p:nvSpPr>
          <p:cNvPr id="6" name="Shape 4"/>
          <p:cNvSpPr/>
          <p:nvPr/>
        </p:nvSpPr>
        <p:spPr>
          <a:xfrm>
            <a:off x="274320" y="1024128"/>
            <a:ext cx="3858768" cy="402336"/>
          </a:xfrm>
          <a:prstGeom prst="roundRect">
            <a:avLst>
              <a:gd name="adj" fmla="val 13636"/>
            </a:avLst>
          </a:prstGeom>
          <a:solidFill>
            <a:srgbClr val="0D2B5E"/>
          </a:solidFill>
          <a:ln w="12700">
            <a:solidFill>
              <a:srgbClr val="0D2B5E"/>
            </a:solidFill>
            <a:prstDash val="solid"/>
          </a:ln>
        </p:spPr>
      </p:sp>
      <p:sp>
        <p:nvSpPr>
          <p:cNvPr id="7" name="Text 5"/>
          <p:cNvSpPr/>
          <p:nvPr/>
        </p:nvSpPr>
        <p:spPr>
          <a:xfrm>
            <a:off x="274320" y="1024128"/>
            <a:ext cx="3858768"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BEFORE  — Manual Scrum Master</a:t>
            </a:r>
            <a:endParaRPr lang="en-US" sz="1200" dirty="0"/>
          </a:p>
        </p:txBody>
      </p:sp>
      <p:sp>
        <p:nvSpPr>
          <p:cNvPr id="8" name="Shape 6"/>
          <p:cNvSpPr/>
          <p:nvPr/>
        </p:nvSpPr>
        <p:spPr>
          <a:xfrm>
            <a:off x="5010912" y="1024128"/>
            <a:ext cx="3858768" cy="402336"/>
          </a:xfrm>
          <a:prstGeom prst="roundRect">
            <a:avLst>
              <a:gd name="adj" fmla="val 13636"/>
            </a:avLst>
          </a:prstGeom>
          <a:solidFill>
            <a:srgbClr val="1565C0"/>
          </a:solidFill>
          <a:ln w="12700">
            <a:solidFill>
              <a:srgbClr val="1565C0"/>
            </a:solidFill>
            <a:prstDash val="solid"/>
          </a:ln>
        </p:spPr>
      </p:sp>
      <p:sp>
        <p:nvSpPr>
          <p:cNvPr id="9" name="Text 7"/>
          <p:cNvSpPr/>
          <p:nvPr/>
        </p:nvSpPr>
        <p:spPr>
          <a:xfrm>
            <a:off x="5010912" y="1024128"/>
            <a:ext cx="3858768"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AFTER  — AI-Augmented Scrum Master</a:t>
            </a:r>
            <a:endParaRPr lang="en-US" sz="1200" dirty="0"/>
          </a:p>
        </p:txBody>
      </p:sp>
      <p:sp>
        <p:nvSpPr>
          <p:cNvPr id="10" name="Shape 8"/>
          <p:cNvSpPr/>
          <p:nvPr/>
        </p:nvSpPr>
        <p:spPr>
          <a:xfrm>
            <a:off x="274320" y="1481328"/>
            <a:ext cx="3858768" cy="384048"/>
          </a:xfrm>
          <a:prstGeom prst="roundRect">
            <a:avLst>
              <a:gd name="adj" fmla="val 14286"/>
            </a:avLst>
          </a:prstGeom>
          <a:solidFill>
            <a:srgbClr val="E3F0FF"/>
          </a:solidFill>
          <a:ln w="12700">
            <a:solidFill>
              <a:srgbClr val="BFDBFE"/>
            </a:solidFill>
            <a:prstDash val="solid"/>
          </a:ln>
        </p:spPr>
      </p:sp>
      <p:sp>
        <p:nvSpPr>
          <p:cNvPr id="11" name="Text 9"/>
          <p:cNvSpPr/>
          <p:nvPr/>
        </p:nvSpPr>
        <p:spPr>
          <a:xfrm>
            <a:off x="347472" y="1499616"/>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Manually copying stories into refinement templates</a:t>
            </a:r>
            <a:endParaRPr lang="en-US" sz="950" dirty="0"/>
          </a:p>
        </p:txBody>
      </p:sp>
      <p:sp>
        <p:nvSpPr>
          <p:cNvPr id="12" name="Shape 10"/>
          <p:cNvSpPr/>
          <p:nvPr/>
        </p:nvSpPr>
        <p:spPr>
          <a:xfrm>
            <a:off x="274320" y="1911096"/>
            <a:ext cx="3858768" cy="384048"/>
          </a:xfrm>
          <a:prstGeom prst="roundRect">
            <a:avLst>
              <a:gd name="adj" fmla="val 14286"/>
            </a:avLst>
          </a:prstGeom>
          <a:solidFill>
            <a:srgbClr val="E3F0FF"/>
          </a:solidFill>
          <a:ln w="12700">
            <a:solidFill>
              <a:srgbClr val="BFDBFE"/>
            </a:solidFill>
            <a:prstDash val="solid"/>
          </a:ln>
        </p:spPr>
      </p:sp>
      <p:sp>
        <p:nvSpPr>
          <p:cNvPr id="13" name="Text 11"/>
          <p:cNvSpPr/>
          <p:nvPr/>
        </p:nvSpPr>
        <p:spPr>
          <a:xfrm>
            <a:off x="347472" y="1929384"/>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Running poker planning and updating ADO by hand</a:t>
            </a:r>
            <a:endParaRPr lang="en-US" sz="950" dirty="0"/>
          </a:p>
        </p:txBody>
      </p:sp>
      <p:sp>
        <p:nvSpPr>
          <p:cNvPr id="14" name="Shape 12"/>
          <p:cNvSpPr/>
          <p:nvPr/>
        </p:nvSpPr>
        <p:spPr>
          <a:xfrm>
            <a:off x="274320" y="2340864"/>
            <a:ext cx="3858768" cy="384048"/>
          </a:xfrm>
          <a:prstGeom prst="roundRect">
            <a:avLst>
              <a:gd name="adj" fmla="val 14286"/>
            </a:avLst>
          </a:prstGeom>
          <a:solidFill>
            <a:srgbClr val="E3F0FF"/>
          </a:solidFill>
          <a:ln w="12700">
            <a:solidFill>
              <a:srgbClr val="BFDBFE"/>
            </a:solidFill>
            <a:prstDash val="solid"/>
          </a:ln>
        </p:spPr>
      </p:sp>
      <p:sp>
        <p:nvSpPr>
          <p:cNvPr id="15" name="Text 13"/>
          <p:cNvSpPr/>
          <p:nvPr/>
        </p:nvSpPr>
        <p:spPr>
          <a:xfrm>
            <a:off x="347472" y="2359152"/>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Creating 5–7 child tasks per story each sprint</a:t>
            </a:r>
            <a:endParaRPr lang="en-US" sz="950" dirty="0"/>
          </a:p>
        </p:txBody>
      </p:sp>
      <p:sp>
        <p:nvSpPr>
          <p:cNvPr id="16" name="Shape 14"/>
          <p:cNvSpPr/>
          <p:nvPr/>
        </p:nvSpPr>
        <p:spPr>
          <a:xfrm>
            <a:off x="274320" y="2770632"/>
            <a:ext cx="3858768" cy="384048"/>
          </a:xfrm>
          <a:prstGeom prst="roundRect">
            <a:avLst>
              <a:gd name="adj" fmla="val 14286"/>
            </a:avLst>
          </a:prstGeom>
          <a:solidFill>
            <a:srgbClr val="E3F0FF"/>
          </a:solidFill>
          <a:ln w="12700">
            <a:solidFill>
              <a:srgbClr val="BFDBFE"/>
            </a:solidFill>
            <a:prstDash val="solid"/>
          </a:ln>
        </p:spPr>
      </p:sp>
      <p:sp>
        <p:nvSpPr>
          <p:cNvPr id="17" name="Text 15"/>
          <p:cNvSpPr/>
          <p:nvPr/>
        </p:nvSpPr>
        <p:spPr>
          <a:xfrm>
            <a:off x="347472" y="2788920"/>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Pasting standup data from ADO into Teams daily</a:t>
            </a:r>
            <a:endParaRPr lang="en-US" sz="950" dirty="0"/>
          </a:p>
        </p:txBody>
      </p:sp>
      <p:sp>
        <p:nvSpPr>
          <p:cNvPr id="18" name="Shape 16"/>
          <p:cNvSpPr/>
          <p:nvPr/>
        </p:nvSpPr>
        <p:spPr>
          <a:xfrm>
            <a:off x="274320" y="3200400"/>
            <a:ext cx="3858768" cy="384048"/>
          </a:xfrm>
          <a:prstGeom prst="roundRect">
            <a:avLst>
              <a:gd name="adj" fmla="val 14286"/>
            </a:avLst>
          </a:prstGeom>
          <a:solidFill>
            <a:srgbClr val="E3F0FF"/>
          </a:solidFill>
          <a:ln w="12700">
            <a:solidFill>
              <a:srgbClr val="BFDBFE"/>
            </a:solidFill>
            <a:prstDash val="solid"/>
          </a:ln>
        </p:spPr>
      </p:sp>
      <p:sp>
        <p:nvSpPr>
          <p:cNvPr id="19" name="Text 17"/>
          <p:cNvSpPr/>
          <p:nvPr/>
        </p:nvSpPr>
        <p:spPr>
          <a:xfrm>
            <a:off x="347472" y="3218688"/>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Writing velocity tables in retro documents</a:t>
            </a:r>
            <a:endParaRPr lang="en-US" sz="950" dirty="0"/>
          </a:p>
        </p:txBody>
      </p:sp>
      <p:sp>
        <p:nvSpPr>
          <p:cNvPr id="20" name="Shape 18"/>
          <p:cNvSpPr/>
          <p:nvPr/>
        </p:nvSpPr>
        <p:spPr>
          <a:xfrm>
            <a:off x="274320" y="3630168"/>
            <a:ext cx="3858768" cy="384048"/>
          </a:xfrm>
          <a:prstGeom prst="roundRect">
            <a:avLst>
              <a:gd name="adj" fmla="val 14286"/>
            </a:avLst>
          </a:prstGeom>
          <a:solidFill>
            <a:srgbClr val="E3F0FF"/>
          </a:solidFill>
          <a:ln w="12700">
            <a:solidFill>
              <a:srgbClr val="BFDBFE"/>
            </a:solidFill>
            <a:prstDash val="solid"/>
          </a:ln>
        </p:spPr>
      </p:sp>
      <p:sp>
        <p:nvSpPr>
          <p:cNvPr id="21" name="Text 19"/>
          <p:cNvSpPr/>
          <p:nvPr/>
        </p:nvSpPr>
        <p:spPr>
          <a:xfrm>
            <a:off x="347472" y="3648456"/>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Spending 3–4 hrs drafting release notes</a:t>
            </a:r>
            <a:endParaRPr lang="en-US" sz="950" dirty="0"/>
          </a:p>
        </p:txBody>
      </p:sp>
      <p:sp>
        <p:nvSpPr>
          <p:cNvPr id="22" name="Shape 20"/>
          <p:cNvSpPr/>
          <p:nvPr/>
        </p:nvSpPr>
        <p:spPr>
          <a:xfrm>
            <a:off x="274320" y="4059936"/>
            <a:ext cx="3858768" cy="384048"/>
          </a:xfrm>
          <a:prstGeom prst="roundRect">
            <a:avLst>
              <a:gd name="adj" fmla="val 14286"/>
            </a:avLst>
          </a:prstGeom>
          <a:solidFill>
            <a:srgbClr val="E3F0FF"/>
          </a:solidFill>
          <a:ln w="12700">
            <a:solidFill>
              <a:srgbClr val="BFDBFE"/>
            </a:solidFill>
            <a:prstDash val="solid"/>
          </a:ln>
        </p:spPr>
      </p:sp>
      <p:sp>
        <p:nvSpPr>
          <p:cNvPr id="23" name="Text 21"/>
          <p:cNvSpPr/>
          <p:nvPr/>
        </p:nvSpPr>
        <p:spPr>
          <a:xfrm>
            <a:off x="347472" y="4078224"/>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Chasing developers to update task states</a:t>
            </a:r>
            <a:endParaRPr lang="en-US" sz="950" dirty="0"/>
          </a:p>
        </p:txBody>
      </p:sp>
      <p:sp>
        <p:nvSpPr>
          <p:cNvPr id="24" name="Shape 22"/>
          <p:cNvSpPr/>
          <p:nvPr/>
        </p:nvSpPr>
        <p:spPr>
          <a:xfrm>
            <a:off x="274320" y="4489704"/>
            <a:ext cx="3858768" cy="384048"/>
          </a:xfrm>
          <a:prstGeom prst="roundRect">
            <a:avLst>
              <a:gd name="adj" fmla="val 14286"/>
            </a:avLst>
          </a:prstGeom>
          <a:solidFill>
            <a:srgbClr val="E3F0FF"/>
          </a:solidFill>
          <a:ln w="12700">
            <a:solidFill>
              <a:srgbClr val="BFDBFE"/>
            </a:solidFill>
            <a:prstDash val="solid"/>
          </a:ln>
        </p:spPr>
      </p:sp>
      <p:sp>
        <p:nvSpPr>
          <p:cNvPr id="25" name="Text 23"/>
          <p:cNvSpPr/>
          <p:nvPr/>
        </p:nvSpPr>
        <p:spPr>
          <a:xfrm>
            <a:off x="347472" y="4507992"/>
            <a:ext cx="3721608" cy="347472"/>
          </a:xfrm>
          <a:prstGeom prst="rect">
            <a:avLst/>
          </a:prstGeom>
          <a:noFill/>
          <a:ln/>
        </p:spPr>
        <p:txBody>
          <a:bodyPr wrap="square" lIns="0" tIns="0" rIns="0" bIns="0" rtlCol="0" anchor="ctr"/>
          <a:lstStyle/>
          <a:p>
            <a:pPr indent="0" marL="0">
              <a:buNone/>
            </a:pPr>
            <a:r>
              <a:rPr lang="en-US" sz="950" b="1" dirty="0">
                <a:solidFill>
                  <a:srgbClr val="0D2B5E"/>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Limited to supporting 1 team effectively</a:t>
            </a:r>
            <a:endParaRPr lang="en-US" sz="950" dirty="0"/>
          </a:p>
        </p:txBody>
      </p:sp>
      <p:sp>
        <p:nvSpPr>
          <p:cNvPr id="26" name="Shape 24"/>
          <p:cNvSpPr/>
          <p:nvPr/>
        </p:nvSpPr>
        <p:spPr>
          <a:xfrm>
            <a:off x="5010912" y="1481328"/>
            <a:ext cx="3858768" cy="384048"/>
          </a:xfrm>
          <a:prstGeom prst="roundRect">
            <a:avLst>
              <a:gd name="adj" fmla="val 14286"/>
            </a:avLst>
          </a:prstGeom>
          <a:solidFill>
            <a:srgbClr val="EFF6FF"/>
          </a:solidFill>
          <a:ln w="12700">
            <a:solidFill>
              <a:srgbClr val="93C5FD"/>
            </a:solidFill>
            <a:prstDash val="solid"/>
          </a:ln>
        </p:spPr>
      </p:sp>
      <p:sp>
        <p:nvSpPr>
          <p:cNvPr id="27" name="Text 25"/>
          <p:cNvSpPr/>
          <p:nvPr/>
        </p:nvSpPr>
        <p:spPr>
          <a:xfrm>
            <a:off x="5084064" y="1499616"/>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Reviews AI-refined stories — focuses on quality</a:t>
            </a:r>
            <a:endParaRPr lang="en-US" sz="950" dirty="0"/>
          </a:p>
        </p:txBody>
      </p:sp>
      <p:sp>
        <p:nvSpPr>
          <p:cNvPr id="28" name="Shape 26"/>
          <p:cNvSpPr/>
          <p:nvPr/>
        </p:nvSpPr>
        <p:spPr>
          <a:xfrm>
            <a:off x="5010912" y="1911096"/>
            <a:ext cx="3858768" cy="384048"/>
          </a:xfrm>
          <a:prstGeom prst="roundRect">
            <a:avLst>
              <a:gd name="adj" fmla="val 14286"/>
            </a:avLst>
          </a:prstGeom>
          <a:solidFill>
            <a:srgbClr val="EFF6FF"/>
          </a:solidFill>
          <a:ln w="12700">
            <a:solidFill>
              <a:srgbClr val="93C5FD"/>
            </a:solidFill>
            <a:prstDash val="solid"/>
          </a:ln>
        </p:spPr>
      </p:sp>
      <p:sp>
        <p:nvSpPr>
          <p:cNvPr id="29" name="Text 27"/>
          <p:cNvSpPr/>
          <p:nvPr/>
        </p:nvSpPr>
        <p:spPr>
          <a:xfrm>
            <a:off x="5084064" y="1929384"/>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Facilitates discussion — agent handles data entry</a:t>
            </a:r>
            <a:endParaRPr lang="en-US" sz="950" dirty="0"/>
          </a:p>
        </p:txBody>
      </p:sp>
      <p:sp>
        <p:nvSpPr>
          <p:cNvPr id="30" name="Shape 28"/>
          <p:cNvSpPr/>
          <p:nvPr/>
        </p:nvSpPr>
        <p:spPr>
          <a:xfrm>
            <a:off x="5010912" y="2340864"/>
            <a:ext cx="3858768" cy="384048"/>
          </a:xfrm>
          <a:prstGeom prst="roundRect">
            <a:avLst>
              <a:gd name="adj" fmla="val 14286"/>
            </a:avLst>
          </a:prstGeom>
          <a:solidFill>
            <a:srgbClr val="EFF6FF"/>
          </a:solidFill>
          <a:ln w="12700">
            <a:solidFill>
              <a:srgbClr val="93C5FD"/>
            </a:solidFill>
            <a:prstDash val="solid"/>
          </a:ln>
        </p:spPr>
      </p:sp>
      <p:sp>
        <p:nvSpPr>
          <p:cNvPr id="31" name="Text 29"/>
          <p:cNvSpPr/>
          <p:nvPr/>
        </p:nvSpPr>
        <p:spPr>
          <a:xfrm>
            <a:off x="5084064" y="2359152"/>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Reviews AI-generated SDLC tasks, adjusts if needed</a:t>
            </a:r>
            <a:endParaRPr lang="en-US" sz="950" dirty="0"/>
          </a:p>
        </p:txBody>
      </p:sp>
      <p:sp>
        <p:nvSpPr>
          <p:cNvPr id="32" name="Shape 30"/>
          <p:cNvSpPr/>
          <p:nvPr/>
        </p:nvSpPr>
        <p:spPr>
          <a:xfrm>
            <a:off x="5010912" y="2770632"/>
            <a:ext cx="3858768" cy="384048"/>
          </a:xfrm>
          <a:prstGeom prst="roundRect">
            <a:avLst>
              <a:gd name="adj" fmla="val 14286"/>
            </a:avLst>
          </a:prstGeom>
          <a:solidFill>
            <a:srgbClr val="EFF6FF"/>
          </a:solidFill>
          <a:ln w="12700">
            <a:solidFill>
              <a:srgbClr val="93C5FD"/>
            </a:solidFill>
            <a:prstDash val="solid"/>
          </a:ln>
        </p:spPr>
      </p:sp>
      <p:sp>
        <p:nvSpPr>
          <p:cNvPr id="33" name="Text 31"/>
          <p:cNvSpPr/>
          <p:nvPr/>
        </p:nvSpPr>
        <p:spPr>
          <a:xfrm>
            <a:off x="5084064" y="2788920"/>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Reads agent standup summary — acts on blockers</a:t>
            </a:r>
            <a:endParaRPr lang="en-US" sz="950" dirty="0"/>
          </a:p>
        </p:txBody>
      </p:sp>
      <p:sp>
        <p:nvSpPr>
          <p:cNvPr id="34" name="Shape 32"/>
          <p:cNvSpPr/>
          <p:nvPr/>
        </p:nvSpPr>
        <p:spPr>
          <a:xfrm>
            <a:off x="5010912" y="3200400"/>
            <a:ext cx="3858768" cy="384048"/>
          </a:xfrm>
          <a:prstGeom prst="roundRect">
            <a:avLst>
              <a:gd name="adj" fmla="val 14286"/>
            </a:avLst>
          </a:prstGeom>
          <a:solidFill>
            <a:srgbClr val="EFF6FF"/>
          </a:solidFill>
          <a:ln w="12700">
            <a:solidFill>
              <a:srgbClr val="93C5FD"/>
            </a:solidFill>
            <a:prstDash val="solid"/>
          </a:ln>
        </p:spPr>
      </p:sp>
      <p:sp>
        <p:nvSpPr>
          <p:cNvPr id="35" name="Text 33"/>
          <p:cNvSpPr/>
          <p:nvPr/>
        </p:nvSpPr>
        <p:spPr>
          <a:xfrm>
            <a:off x="5084064" y="3218688"/>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Reviews velocity insights — coaches on root causes</a:t>
            </a:r>
            <a:endParaRPr lang="en-US" sz="950" dirty="0"/>
          </a:p>
        </p:txBody>
      </p:sp>
      <p:sp>
        <p:nvSpPr>
          <p:cNvPr id="36" name="Shape 34"/>
          <p:cNvSpPr/>
          <p:nvPr/>
        </p:nvSpPr>
        <p:spPr>
          <a:xfrm>
            <a:off x="5010912" y="3630168"/>
            <a:ext cx="3858768" cy="384048"/>
          </a:xfrm>
          <a:prstGeom prst="roundRect">
            <a:avLst>
              <a:gd name="adj" fmla="val 14286"/>
            </a:avLst>
          </a:prstGeom>
          <a:solidFill>
            <a:srgbClr val="EFF6FF"/>
          </a:solidFill>
          <a:ln w="12700">
            <a:solidFill>
              <a:srgbClr val="93C5FD"/>
            </a:solidFill>
            <a:prstDash val="solid"/>
          </a:ln>
        </p:spPr>
      </p:sp>
      <p:sp>
        <p:nvSpPr>
          <p:cNvPr id="37" name="Text 35"/>
          <p:cNvSpPr/>
          <p:nvPr/>
        </p:nvSpPr>
        <p:spPr>
          <a:xfrm>
            <a:off x="5084064" y="3648456"/>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Approves and publishes AI-drafted release notes</a:t>
            </a:r>
            <a:endParaRPr lang="en-US" sz="950" dirty="0"/>
          </a:p>
        </p:txBody>
      </p:sp>
      <p:sp>
        <p:nvSpPr>
          <p:cNvPr id="38" name="Shape 36"/>
          <p:cNvSpPr/>
          <p:nvPr/>
        </p:nvSpPr>
        <p:spPr>
          <a:xfrm>
            <a:off x="5010912" y="4059936"/>
            <a:ext cx="3858768" cy="384048"/>
          </a:xfrm>
          <a:prstGeom prst="roundRect">
            <a:avLst>
              <a:gd name="adj" fmla="val 14286"/>
            </a:avLst>
          </a:prstGeom>
          <a:solidFill>
            <a:srgbClr val="EFF6FF"/>
          </a:solidFill>
          <a:ln w="12700">
            <a:solidFill>
              <a:srgbClr val="93C5FD"/>
            </a:solidFill>
            <a:prstDash val="solid"/>
          </a:ln>
        </p:spPr>
      </p:sp>
      <p:sp>
        <p:nvSpPr>
          <p:cNvPr id="39" name="Text 37"/>
          <p:cNvSpPr/>
          <p:nvPr/>
        </p:nvSpPr>
        <p:spPr>
          <a:xfrm>
            <a:off x="5084064" y="4078224"/>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Monitors ADO health via agent — acts on exceptions</a:t>
            </a:r>
            <a:endParaRPr lang="en-US" sz="950" dirty="0"/>
          </a:p>
        </p:txBody>
      </p:sp>
      <p:sp>
        <p:nvSpPr>
          <p:cNvPr id="40" name="Shape 38"/>
          <p:cNvSpPr/>
          <p:nvPr/>
        </p:nvSpPr>
        <p:spPr>
          <a:xfrm>
            <a:off x="5010912" y="4489704"/>
            <a:ext cx="3858768" cy="384048"/>
          </a:xfrm>
          <a:prstGeom prst="roundRect">
            <a:avLst>
              <a:gd name="adj" fmla="val 14286"/>
            </a:avLst>
          </a:prstGeom>
          <a:solidFill>
            <a:srgbClr val="EFF6FF"/>
          </a:solidFill>
          <a:ln w="12700">
            <a:solidFill>
              <a:srgbClr val="93C5FD"/>
            </a:solidFill>
            <a:prstDash val="solid"/>
          </a:ln>
        </p:spPr>
      </p:sp>
      <p:sp>
        <p:nvSpPr>
          <p:cNvPr id="41" name="Text 39"/>
          <p:cNvSpPr/>
          <p:nvPr/>
        </p:nvSpPr>
        <p:spPr>
          <a:xfrm>
            <a:off x="5084064" y="4507992"/>
            <a:ext cx="3721608" cy="347472"/>
          </a:xfrm>
          <a:prstGeom prst="rect">
            <a:avLst/>
          </a:prstGeom>
          <a:noFill/>
          <a:ln/>
        </p:spPr>
        <p:txBody>
          <a:bodyPr wrap="square" lIns="0" tIns="0" rIns="0" bIns="0" rtlCol="0" anchor="ctr"/>
          <a:lstStyle/>
          <a:p>
            <a:pPr indent="0" marL="0">
              <a:buNone/>
            </a:pPr>
            <a:r>
              <a:rPr lang="en-US" sz="950" b="1" dirty="0">
                <a:solidFill>
                  <a:srgbClr val="1565C0"/>
                </a:solidFill>
                <a:latin typeface="Calibri" pitchFamily="34" charset="0"/>
                <a:ea typeface="Calibri" pitchFamily="34" charset="-122"/>
                <a:cs typeface="Calibri" pitchFamily="34" charset="-120"/>
              </a:rPr>
              <a:t>✓  </a:t>
            </a:r>
            <a:pPr indent="0" marL="0">
              <a:buNone/>
            </a:pPr>
            <a:r>
              <a:rPr lang="en-US" sz="950" dirty="0">
                <a:solidFill>
                  <a:srgbClr val="0D1B2A"/>
                </a:solidFill>
                <a:latin typeface="Calibri" pitchFamily="34" charset="0"/>
                <a:ea typeface="Calibri" pitchFamily="34" charset="-122"/>
                <a:cs typeface="Calibri" pitchFamily="34" charset="-120"/>
              </a:rPr>
              <a:t>Capacity grows to support 2–3 teams at same quality</a:t>
            </a:r>
            <a:endParaRPr lang="en-US" sz="950" dirty="0"/>
          </a:p>
        </p:txBody>
      </p:sp>
      <p:sp>
        <p:nvSpPr>
          <p:cNvPr id="42" name="Text 40"/>
          <p:cNvSpPr/>
          <p:nvPr/>
        </p:nvSpPr>
        <p:spPr>
          <a:xfrm>
            <a:off x="4206240" y="3017520"/>
            <a:ext cx="457200" cy="347472"/>
          </a:xfrm>
          <a:prstGeom prst="rect">
            <a:avLst/>
          </a:prstGeom>
          <a:noFill/>
          <a:ln/>
        </p:spPr>
        <p:txBody>
          <a:bodyPr wrap="square" lIns="0" tIns="0" rIns="0" bIns="0" rtlCol="0" anchor="ctr"/>
          <a:lstStyle/>
          <a:p>
            <a:pPr algn="ctr" indent="0" marL="0">
              <a:buNone/>
            </a:pPr>
            <a:r>
              <a:rPr lang="en-US" sz="2000" b="1" dirty="0">
                <a:solidFill>
                  <a:srgbClr val="1565C0"/>
                </a:solidFill>
              </a:rPr>
              <a:t>→</a:t>
            </a:r>
            <a:endParaRPr lang="en-US" sz="2000" dirty="0"/>
          </a:p>
        </p:txBody>
      </p:sp>
      <p:sp>
        <p:nvSpPr>
          <p:cNvPr id="43" name="Shape 41"/>
          <p:cNvSpPr/>
          <p:nvPr/>
        </p:nvSpPr>
        <p:spPr>
          <a:xfrm>
            <a:off x="0" y="4782312"/>
            <a:ext cx="9144000" cy="361188"/>
          </a:xfrm>
          <a:prstGeom prst="rect">
            <a:avLst/>
          </a:prstGeom>
          <a:solidFill>
            <a:srgbClr val="1565C0"/>
          </a:solidFill>
          <a:ln w="12700">
            <a:solidFill>
              <a:srgbClr val="1565C0"/>
            </a:solidFill>
            <a:prstDash val="solid"/>
          </a:ln>
        </p:spPr>
      </p:sp>
      <p:sp>
        <p:nvSpPr>
          <p:cNvPr id="44" name="Text 42"/>
          <p:cNvSpPr/>
          <p:nvPr/>
        </p:nvSpPr>
        <p:spPr>
          <a:xfrm>
            <a:off x="320040" y="4800600"/>
            <a:ext cx="850392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SM shifts from task executor to strategic coach — AI handles the admin, the human handles the judgement and the people.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5E"/>
        </a:solidFill>
      </p:bgPr>
    </p:bg>
    <p:spTree>
      <p:nvGrpSpPr>
        <p:cNvPr id="1" name=""/>
        <p:cNvGrpSpPr/>
        <p:nvPr/>
      </p:nvGrpSpPr>
      <p:grpSpPr>
        <a:xfrm>
          <a:off x="0" y="0"/>
          <a:ext cx="0" cy="0"/>
          <a:chOff x="0" y="0"/>
          <a:chExt cx="0" cy="0"/>
        </a:xfrm>
      </p:grpSpPr>
      <p:sp>
        <p:nvSpPr>
          <p:cNvPr id="2" name="Shape 0"/>
          <p:cNvSpPr/>
          <p:nvPr/>
        </p:nvSpPr>
        <p:spPr>
          <a:xfrm>
            <a:off x="-1097280" y="3108960"/>
            <a:ext cx="3840480" cy="3840480"/>
          </a:xfrm>
          <a:prstGeom prst="ellipse">
            <a:avLst/>
          </a:prstGeom>
          <a:solidFill>
            <a:srgbClr val="1565C0">
              <a:alpha val="22000"/>
            </a:srgbClr>
          </a:solidFill>
          <a:ln w="12700">
            <a:solidFill>
              <a:srgbClr val="1565C0">
                <a:alpha val="22000"/>
              </a:srgbClr>
            </a:solidFill>
            <a:prstDash val="solid"/>
          </a:ln>
        </p:spPr>
      </p:sp>
      <p:sp>
        <p:nvSpPr>
          <p:cNvPr id="3" name="Shape 1"/>
          <p:cNvSpPr/>
          <p:nvPr/>
        </p:nvSpPr>
        <p:spPr>
          <a:xfrm>
            <a:off x="7132320" y="-1005840"/>
            <a:ext cx="2926080" cy="2926080"/>
          </a:xfrm>
          <a:prstGeom prst="ellipse">
            <a:avLst/>
          </a:prstGeom>
          <a:solidFill>
            <a:srgbClr val="1E88E5">
              <a:alpha val="18000"/>
            </a:srgbClr>
          </a:solidFill>
          <a:ln w="12700">
            <a:solidFill>
              <a:srgbClr val="1E88E5">
                <a:alpha val="18000"/>
              </a:srgbClr>
            </a:solidFill>
            <a:prstDash val="solid"/>
          </a:ln>
        </p:spPr>
      </p:sp>
      <p:sp>
        <p:nvSpPr>
          <p:cNvPr id="4" name="Shape 2"/>
          <p:cNvSpPr/>
          <p:nvPr/>
        </p:nvSpPr>
        <p:spPr>
          <a:xfrm>
            <a:off x="365760" y="274320"/>
            <a:ext cx="822960" cy="329184"/>
          </a:xfrm>
          <a:prstGeom prst="roundRect">
            <a:avLst>
              <a:gd name="adj" fmla="val 13889"/>
            </a:avLst>
          </a:prstGeom>
          <a:solidFill>
            <a:srgbClr val="1E88E5"/>
          </a:solidFill>
          <a:ln w="12700">
            <a:solidFill>
              <a:srgbClr val="1E88E5"/>
            </a:solidFill>
            <a:prstDash val="solid"/>
          </a:ln>
        </p:spPr>
      </p:sp>
      <p:sp>
        <p:nvSpPr>
          <p:cNvPr id="5" name="Text 3"/>
          <p:cNvSpPr/>
          <p:nvPr/>
        </p:nvSpPr>
        <p:spPr>
          <a:xfrm>
            <a:off x="365760" y="274320"/>
            <a:ext cx="822960" cy="329184"/>
          </a:xfrm>
          <a:prstGeom prst="rect">
            <a:avLst/>
          </a:prstGeom>
          <a:noFill/>
          <a:ln/>
        </p:spPr>
        <p:txBody>
          <a:bodyPr wrap="square" lIns="0" tIns="0" rIns="0" bIns="0" rtlCol="0" anchor="ctr"/>
          <a:lstStyle/>
          <a:p>
            <a:pPr algn="ctr" indent="0" marL="0">
              <a:buNone/>
            </a:pPr>
            <a:r>
              <a:rPr lang="en-US" sz="1100" b="1" dirty="0">
                <a:solidFill>
                  <a:srgbClr val="FFFFFF"/>
                </a:solidFill>
              </a:rPr>
              <a:t>ABC</a:t>
            </a:r>
            <a:endParaRPr lang="en-US" sz="1100" dirty="0"/>
          </a:p>
        </p:txBody>
      </p:sp>
      <p:sp>
        <p:nvSpPr>
          <p:cNvPr id="6" name="Text 4"/>
          <p:cNvSpPr/>
          <p:nvPr/>
        </p:nvSpPr>
        <p:spPr>
          <a:xfrm>
            <a:off x="1371600" y="237744"/>
            <a:ext cx="73152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Next Steps</a:t>
            </a:r>
            <a:endParaRPr lang="en-US" sz="3000" dirty="0"/>
          </a:p>
        </p:txBody>
      </p:sp>
      <p:sp>
        <p:nvSpPr>
          <p:cNvPr id="7" name="Text 5"/>
          <p:cNvSpPr/>
          <p:nvPr/>
        </p:nvSpPr>
        <p:spPr>
          <a:xfrm>
            <a:off x="457200" y="868680"/>
            <a:ext cx="8229600" cy="292608"/>
          </a:xfrm>
          <a:prstGeom prst="rect">
            <a:avLst/>
          </a:prstGeom>
          <a:noFill/>
          <a:ln/>
        </p:spPr>
        <p:txBody>
          <a:bodyPr wrap="square" rtlCol="0" anchor="ctr"/>
          <a:lstStyle/>
          <a:p>
            <a:pPr indent="0" marL="0">
              <a:buNone/>
            </a:pPr>
            <a:r>
              <a:rPr lang="en-US" sz="1300" i="1" dirty="0">
                <a:solidFill>
                  <a:srgbClr val="E3F0FF"/>
                </a:solidFill>
                <a:latin typeface="Calibri" pitchFamily="34" charset="0"/>
                <a:ea typeface="Calibri" pitchFamily="34" charset="-122"/>
                <a:cs typeface="Calibri" pitchFamily="34" charset="-120"/>
              </a:rPr>
              <a:t>From leadership approval to first agent running — under one week</a:t>
            </a:r>
            <a:endParaRPr lang="en-US" sz="1300" dirty="0"/>
          </a:p>
        </p:txBody>
      </p:sp>
      <p:sp>
        <p:nvSpPr>
          <p:cNvPr id="8" name="Shape 6"/>
          <p:cNvSpPr/>
          <p:nvPr/>
        </p:nvSpPr>
        <p:spPr>
          <a:xfrm>
            <a:off x="320040" y="1298448"/>
            <a:ext cx="2029968" cy="3346704"/>
          </a:xfrm>
          <a:prstGeom prst="roundRect">
            <a:avLst>
              <a:gd name="adj" fmla="val 4505"/>
            </a:avLst>
          </a:prstGeom>
          <a:solidFill>
            <a:srgbClr val="FFFFFF">
              <a:alpha val="94000"/>
            </a:srgbClr>
          </a:solidFill>
          <a:ln w="12700">
            <a:solidFill>
              <a:srgbClr val="1E88E5">
                <a:alpha val="50000"/>
              </a:srgbClr>
            </a:solidFill>
            <a:prstDash val="solid"/>
          </a:ln>
        </p:spPr>
      </p:sp>
      <p:sp>
        <p:nvSpPr>
          <p:cNvPr id="9" name="Shape 7"/>
          <p:cNvSpPr/>
          <p:nvPr/>
        </p:nvSpPr>
        <p:spPr>
          <a:xfrm>
            <a:off x="320040" y="1298448"/>
            <a:ext cx="2029968" cy="475488"/>
          </a:xfrm>
          <a:prstGeom prst="roundRect">
            <a:avLst>
              <a:gd name="adj" fmla="val 19231"/>
            </a:avLst>
          </a:prstGeom>
          <a:solidFill>
            <a:srgbClr val="1565C0"/>
          </a:solidFill>
          <a:ln w="12700">
            <a:solidFill>
              <a:srgbClr val="1565C0"/>
            </a:solidFill>
            <a:prstDash val="solid"/>
          </a:ln>
        </p:spPr>
      </p:sp>
      <p:sp>
        <p:nvSpPr>
          <p:cNvPr id="10" name="Text 8"/>
          <p:cNvSpPr/>
          <p:nvPr/>
        </p:nvSpPr>
        <p:spPr>
          <a:xfrm>
            <a:off x="320040" y="1307592"/>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1</a:t>
            </a:r>
            <a:endParaRPr lang="en-US" sz="1100" dirty="0"/>
          </a:p>
        </p:txBody>
      </p:sp>
      <p:sp>
        <p:nvSpPr>
          <p:cNvPr id="11" name="Text 9"/>
          <p:cNvSpPr/>
          <p:nvPr/>
        </p:nvSpPr>
        <p:spPr>
          <a:xfrm>
            <a:off x="411480" y="1847088"/>
            <a:ext cx="1847088"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Install &amp; Configure</a:t>
            </a:r>
            <a:endParaRPr lang="en-US" sz="1100" dirty="0"/>
          </a:p>
        </p:txBody>
      </p:sp>
      <p:sp>
        <p:nvSpPr>
          <p:cNvPr id="12" name="Text 10"/>
          <p:cNvSpPr/>
          <p:nvPr/>
        </p:nvSpPr>
        <p:spPr>
          <a:xfrm>
            <a:off x="411480" y="22494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Clone repo, open in VS Code</a:t>
            </a:r>
            <a:endParaRPr lang="en-US" sz="950" dirty="0"/>
          </a:p>
        </p:txBody>
      </p:sp>
      <p:sp>
        <p:nvSpPr>
          <p:cNvPr id="13" name="Text 11"/>
          <p:cNvSpPr/>
          <p:nvPr/>
        </p:nvSpPr>
        <p:spPr>
          <a:xfrm>
            <a:off x="411480" y="29352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Fill config.ini: Sprint URL + PAT</a:t>
            </a:r>
            <a:endParaRPr lang="en-US" sz="950" dirty="0"/>
          </a:p>
        </p:txBody>
      </p:sp>
      <p:sp>
        <p:nvSpPr>
          <p:cNvPr id="14" name="Text 12"/>
          <p:cNvSpPr/>
          <p:nvPr/>
        </p:nvSpPr>
        <p:spPr>
          <a:xfrm>
            <a:off x="411480" y="36210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npm install → F5 → test /DailyScrum</a:t>
            </a:r>
            <a:endParaRPr lang="en-US" sz="950" dirty="0"/>
          </a:p>
        </p:txBody>
      </p:sp>
      <p:sp>
        <p:nvSpPr>
          <p:cNvPr id="15" name="Shape 13"/>
          <p:cNvSpPr/>
          <p:nvPr/>
        </p:nvSpPr>
        <p:spPr>
          <a:xfrm>
            <a:off x="2468880" y="1298448"/>
            <a:ext cx="2029968" cy="3346704"/>
          </a:xfrm>
          <a:prstGeom prst="roundRect">
            <a:avLst>
              <a:gd name="adj" fmla="val 4505"/>
            </a:avLst>
          </a:prstGeom>
          <a:solidFill>
            <a:srgbClr val="FFFFFF">
              <a:alpha val="94000"/>
            </a:srgbClr>
          </a:solidFill>
          <a:ln w="12700">
            <a:solidFill>
              <a:srgbClr val="1E88E5">
                <a:alpha val="50000"/>
              </a:srgbClr>
            </a:solidFill>
            <a:prstDash val="solid"/>
          </a:ln>
        </p:spPr>
      </p:sp>
      <p:sp>
        <p:nvSpPr>
          <p:cNvPr id="16" name="Shape 14"/>
          <p:cNvSpPr/>
          <p:nvPr/>
        </p:nvSpPr>
        <p:spPr>
          <a:xfrm>
            <a:off x="2468880" y="1298448"/>
            <a:ext cx="2029968" cy="475488"/>
          </a:xfrm>
          <a:prstGeom prst="roundRect">
            <a:avLst>
              <a:gd name="adj" fmla="val 19231"/>
            </a:avLst>
          </a:prstGeom>
          <a:solidFill>
            <a:srgbClr val="1565C0"/>
          </a:solidFill>
          <a:ln w="12700">
            <a:solidFill>
              <a:srgbClr val="1565C0"/>
            </a:solidFill>
            <a:prstDash val="solid"/>
          </a:ln>
        </p:spPr>
      </p:sp>
      <p:sp>
        <p:nvSpPr>
          <p:cNvPr id="17" name="Text 15"/>
          <p:cNvSpPr/>
          <p:nvPr/>
        </p:nvSpPr>
        <p:spPr>
          <a:xfrm>
            <a:off x="2468880" y="1307592"/>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2</a:t>
            </a:r>
            <a:endParaRPr lang="en-US" sz="1100" dirty="0"/>
          </a:p>
        </p:txBody>
      </p:sp>
      <p:sp>
        <p:nvSpPr>
          <p:cNvPr id="18" name="Text 16"/>
          <p:cNvSpPr/>
          <p:nvPr/>
        </p:nvSpPr>
        <p:spPr>
          <a:xfrm>
            <a:off x="2560320" y="1847088"/>
            <a:ext cx="1847088"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First Full Sprint</a:t>
            </a:r>
            <a:endParaRPr lang="en-US" sz="1100" dirty="0"/>
          </a:p>
        </p:txBody>
      </p:sp>
      <p:sp>
        <p:nvSpPr>
          <p:cNvPr id="19" name="Text 17"/>
          <p:cNvSpPr/>
          <p:nvPr/>
        </p:nvSpPr>
        <p:spPr>
          <a:xfrm>
            <a:off x="2560320" y="22494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Run /BacklogRefinement pre-sprint</a:t>
            </a:r>
            <a:endParaRPr lang="en-US" sz="950" dirty="0"/>
          </a:p>
        </p:txBody>
      </p:sp>
      <p:sp>
        <p:nvSpPr>
          <p:cNvPr id="20" name="Text 18"/>
          <p:cNvSpPr/>
          <p:nvPr/>
        </p:nvSpPr>
        <p:spPr>
          <a:xfrm>
            <a:off x="2560320" y="29352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Run /SprintPlanning — SDLC tasks live</a:t>
            </a:r>
            <a:endParaRPr lang="en-US" sz="950" dirty="0"/>
          </a:p>
        </p:txBody>
      </p:sp>
      <p:sp>
        <p:nvSpPr>
          <p:cNvPr id="21" name="Text 19"/>
          <p:cNvSpPr/>
          <p:nvPr/>
        </p:nvSpPr>
        <p:spPr>
          <a:xfrm>
            <a:off x="2560320" y="36210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Validate quality with the team</a:t>
            </a:r>
            <a:endParaRPr lang="en-US" sz="950" dirty="0"/>
          </a:p>
        </p:txBody>
      </p:sp>
      <p:sp>
        <p:nvSpPr>
          <p:cNvPr id="22" name="Shape 20"/>
          <p:cNvSpPr/>
          <p:nvPr/>
        </p:nvSpPr>
        <p:spPr>
          <a:xfrm>
            <a:off x="4617720" y="1298448"/>
            <a:ext cx="2029968" cy="3346704"/>
          </a:xfrm>
          <a:prstGeom prst="roundRect">
            <a:avLst>
              <a:gd name="adj" fmla="val 4505"/>
            </a:avLst>
          </a:prstGeom>
          <a:solidFill>
            <a:srgbClr val="FFFFFF">
              <a:alpha val="94000"/>
            </a:srgbClr>
          </a:solidFill>
          <a:ln w="12700">
            <a:solidFill>
              <a:srgbClr val="1E88E5">
                <a:alpha val="50000"/>
              </a:srgbClr>
            </a:solidFill>
            <a:prstDash val="solid"/>
          </a:ln>
        </p:spPr>
      </p:sp>
      <p:sp>
        <p:nvSpPr>
          <p:cNvPr id="23" name="Shape 21"/>
          <p:cNvSpPr/>
          <p:nvPr/>
        </p:nvSpPr>
        <p:spPr>
          <a:xfrm>
            <a:off x="4617720" y="1298448"/>
            <a:ext cx="2029968" cy="475488"/>
          </a:xfrm>
          <a:prstGeom prst="roundRect">
            <a:avLst>
              <a:gd name="adj" fmla="val 19231"/>
            </a:avLst>
          </a:prstGeom>
          <a:solidFill>
            <a:srgbClr val="1565C0"/>
          </a:solidFill>
          <a:ln w="12700">
            <a:solidFill>
              <a:srgbClr val="1565C0"/>
            </a:solidFill>
            <a:prstDash val="solid"/>
          </a:ln>
        </p:spPr>
      </p:sp>
      <p:sp>
        <p:nvSpPr>
          <p:cNvPr id="24" name="Text 22"/>
          <p:cNvSpPr/>
          <p:nvPr/>
        </p:nvSpPr>
        <p:spPr>
          <a:xfrm>
            <a:off x="4617720" y="1307592"/>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Week 3–4</a:t>
            </a:r>
            <a:endParaRPr lang="en-US" sz="1100" dirty="0"/>
          </a:p>
        </p:txBody>
      </p:sp>
      <p:sp>
        <p:nvSpPr>
          <p:cNvPr id="25" name="Text 23"/>
          <p:cNvSpPr/>
          <p:nvPr/>
        </p:nvSpPr>
        <p:spPr>
          <a:xfrm>
            <a:off x="4709160" y="1847088"/>
            <a:ext cx="1847088"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Measure &amp; Tune</a:t>
            </a:r>
            <a:endParaRPr lang="en-US" sz="1100" dirty="0"/>
          </a:p>
        </p:txBody>
      </p:sp>
      <p:sp>
        <p:nvSpPr>
          <p:cNvPr id="26" name="Text 24"/>
          <p:cNvSpPr/>
          <p:nvPr/>
        </p:nvSpPr>
        <p:spPr>
          <a:xfrm>
            <a:off x="4709160" y="22494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Track time saved per ceremony</a:t>
            </a:r>
            <a:endParaRPr lang="en-US" sz="950" dirty="0"/>
          </a:p>
        </p:txBody>
      </p:sp>
      <p:sp>
        <p:nvSpPr>
          <p:cNvPr id="27" name="Text 25"/>
          <p:cNvSpPr/>
          <p:nvPr/>
        </p:nvSpPr>
        <p:spPr>
          <a:xfrm>
            <a:off x="4709160" y="29352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Gather SM feedback on task quality</a:t>
            </a:r>
            <a:endParaRPr lang="en-US" sz="950" dirty="0"/>
          </a:p>
        </p:txBody>
      </p:sp>
      <p:sp>
        <p:nvSpPr>
          <p:cNvPr id="28" name="Text 26"/>
          <p:cNvSpPr/>
          <p:nvPr/>
        </p:nvSpPr>
        <p:spPr>
          <a:xfrm>
            <a:off x="4709160" y="36210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Adjust prompts if needed</a:t>
            </a:r>
            <a:endParaRPr lang="en-US" sz="950" dirty="0"/>
          </a:p>
        </p:txBody>
      </p:sp>
      <p:sp>
        <p:nvSpPr>
          <p:cNvPr id="29" name="Shape 27"/>
          <p:cNvSpPr/>
          <p:nvPr/>
        </p:nvSpPr>
        <p:spPr>
          <a:xfrm>
            <a:off x="6766560" y="1298448"/>
            <a:ext cx="2029968" cy="3346704"/>
          </a:xfrm>
          <a:prstGeom prst="roundRect">
            <a:avLst>
              <a:gd name="adj" fmla="val 4505"/>
            </a:avLst>
          </a:prstGeom>
          <a:solidFill>
            <a:srgbClr val="FFFFFF">
              <a:alpha val="94000"/>
            </a:srgbClr>
          </a:solidFill>
          <a:ln w="12700">
            <a:solidFill>
              <a:srgbClr val="1E88E5">
                <a:alpha val="50000"/>
              </a:srgbClr>
            </a:solidFill>
            <a:prstDash val="solid"/>
          </a:ln>
        </p:spPr>
      </p:sp>
      <p:sp>
        <p:nvSpPr>
          <p:cNvPr id="30" name="Shape 28"/>
          <p:cNvSpPr/>
          <p:nvPr/>
        </p:nvSpPr>
        <p:spPr>
          <a:xfrm>
            <a:off x="6766560" y="1298448"/>
            <a:ext cx="2029968" cy="475488"/>
          </a:xfrm>
          <a:prstGeom prst="roundRect">
            <a:avLst>
              <a:gd name="adj" fmla="val 19231"/>
            </a:avLst>
          </a:prstGeom>
          <a:solidFill>
            <a:srgbClr val="1565C0"/>
          </a:solidFill>
          <a:ln w="12700">
            <a:solidFill>
              <a:srgbClr val="1565C0"/>
            </a:solidFill>
            <a:prstDash val="solid"/>
          </a:ln>
        </p:spPr>
      </p:sp>
      <p:sp>
        <p:nvSpPr>
          <p:cNvPr id="31" name="Text 29"/>
          <p:cNvSpPr/>
          <p:nvPr/>
        </p:nvSpPr>
        <p:spPr>
          <a:xfrm>
            <a:off x="6766560" y="1307592"/>
            <a:ext cx="2029968"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 2026</a:t>
            </a:r>
            <a:endParaRPr lang="en-US" sz="1100" dirty="0"/>
          </a:p>
        </p:txBody>
      </p:sp>
      <p:sp>
        <p:nvSpPr>
          <p:cNvPr id="32" name="Text 30"/>
          <p:cNvSpPr/>
          <p:nvPr/>
        </p:nvSpPr>
        <p:spPr>
          <a:xfrm>
            <a:off x="6858000" y="1847088"/>
            <a:ext cx="1847088" cy="32918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Scale &amp; Extend</a:t>
            </a:r>
            <a:endParaRPr lang="en-US" sz="1100" dirty="0"/>
          </a:p>
        </p:txBody>
      </p:sp>
      <p:sp>
        <p:nvSpPr>
          <p:cNvPr id="33" name="Text 31"/>
          <p:cNvSpPr/>
          <p:nvPr/>
        </p:nvSpPr>
        <p:spPr>
          <a:xfrm>
            <a:off x="6858000" y="22494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Roll out to additional teams</a:t>
            </a:r>
            <a:endParaRPr lang="en-US" sz="950" dirty="0"/>
          </a:p>
        </p:txBody>
      </p:sp>
      <p:sp>
        <p:nvSpPr>
          <p:cNvPr id="34" name="Text 32"/>
          <p:cNvSpPr/>
          <p:nvPr/>
        </p:nvSpPr>
        <p:spPr>
          <a:xfrm>
            <a:off x="6858000" y="29352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Build SprintHealthCheck + TestCase</a:t>
            </a:r>
            <a:endParaRPr lang="en-US" sz="950" dirty="0"/>
          </a:p>
        </p:txBody>
      </p:sp>
      <p:sp>
        <p:nvSpPr>
          <p:cNvPr id="35" name="Text 33"/>
          <p:cNvSpPr/>
          <p:nvPr/>
        </p:nvSpPr>
        <p:spPr>
          <a:xfrm>
            <a:off x="6858000" y="3621024"/>
            <a:ext cx="1847088" cy="621792"/>
          </a:xfrm>
          <a:prstGeom prst="rect">
            <a:avLst/>
          </a:prstGeom>
          <a:noFill/>
          <a:ln/>
        </p:spPr>
        <p:txBody>
          <a:bodyPr wrap="square" lIns="0" tIns="0" rIns="0" bIns="0" rtlCol="0" anchor="ctr"/>
          <a:lstStyle/>
          <a:p>
            <a:pPr indent="0" marL="0">
              <a:buNone/>
            </a:pPr>
            <a:r>
              <a:rPr lang="en-US" sz="950" b="1" dirty="0">
                <a:solidFill>
                  <a:srgbClr val="E3F0FF"/>
                </a:solidFill>
                <a:latin typeface="Calibri" pitchFamily="34" charset="0"/>
                <a:ea typeface="Calibri" pitchFamily="34" charset="-122"/>
                <a:cs typeface="Calibri" pitchFamily="34" charset="-120"/>
              </a:rPr>
              <a:t>·  </a:t>
            </a:r>
            <a:pPr indent="0" marL="0">
              <a:buNone/>
            </a:pPr>
            <a:r>
              <a:rPr lang="en-US" sz="950" dirty="0">
                <a:solidFill>
                  <a:srgbClr val="DBEAFE"/>
                </a:solidFill>
                <a:latin typeface="Calibri" pitchFamily="34" charset="0"/>
                <a:ea typeface="Calibri" pitchFamily="34" charset="-122"/>
                <a:cs typeface="Calibri" pitchFamily="34" charset="-120"/>
              </a:rPr>
              <a:t>Enable OrchestratorAgent</a:t>
            </a:r>
            <a:endParaRPr lang="en-US" sz="950" dirty="0"/>
          </a:p>
        </p:txBody>
      </p:sp>
      <p:sp>
        <p:nvSpPr>
          <p:cNvPr id="36" name="Shape 34"/>
          <p:cNvSpPr/>
          <p:nvPr/>
        </p:nvSpPr>
        <p:spPr>
          <a:xfrm>
            <a:off x="0" y="4782312"/>
            <a:ext cx="9144000" cy="361188"/>
          </a:xfrm>
          <a:prstGeom prst="rect">
            <a:avLst/>
          </a:prstGeom>
          <a:solidFill>
            <a:srgbClr val="1565C0"/>
          </a:solidFill>
          <a:ln w="12700">
            <a:solidFill>
              <a:srgbClr val="1565C0"/>
            </a:solidFill>
            <a:prstDash val="solid"/>
          </a:ln>
        </p:spPr>
      </p:sp>
      <p:sp>
        <p:nvSpPr>
          <p:cNvPr id="37" name="Text 35"/>
          <p:cNvSpPr/>
          <p:nvPr/>
        </p:nvSpPr>
        <p:spPr>
          <a:xfrm>
            <a:off x="274320" y="4809744"/>
            <a:ext cx="8595360"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One config.ini  ·  One Sprint URL  ·  One PAT token  ·  @ScrumAgent is live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ABC – AI Scrum Master Agents</dc:title>
  <dc:subject>PptxGenJS Presentation</dc:subject>
  <dc:creator>PptxGenJS</dc:creator>
  <cp:lastModifiedBy>PptxGenJS</cp:lastModifiedBy>
  <cp:revision>1</cp:revision>
  <dcterms:created xsi:type="dcterms:W3CDTF">2026-06-25T04:02:46Z</dcterms:created>
  <dcterms:modified xsi:type="dcterms:W3CDTF">2026-06-25T04:02:46Z</dcterms:modified>
</cp:coreProperties>
</file>