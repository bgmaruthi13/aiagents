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leadership. This deck walks through our AI Scrum Master Agent suite — what it does, how it works, efficiency gains for our team, and what it means for the Scrum Master role going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 overview — 8 sections, approximately 20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the problem. Scrum Masters are spending the majority of their time on repetitive admin work rather than high-value coaching and team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@ScrumAgent lives in VS Code Copilot Chat. One PAT token and Sprint URL in config.ini — that's the only setup. Tab autocomplete shows all 6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automation flow. Each row is one agent. The loop at the bottom shows the continuous improvement cycle — after a retrospective, the agent auto-creates improvement items back into the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highest-value slide for developers and Scrum Masters. The agent reads the full User Story, synthesises it through GPT-4o, and creates 7 SDLC child tasks — each specific to that story, not copy-pasted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additional agents on the roadmap across 4 categories. We recommend starting with SprintHealthCheck and TestCaseGenerator as the next two builds — highest ROI for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X for your actual team size when presenting. The key message: we save approximately 20 hours per Scrum Master per sprint — that's time reinvested into coaching, architecture discussions, and team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message for leadership: this is role enhancement, not replacement. We're freeing up Scrum Masters to do the high-value work that AI cannot do — coaching, team dynamics, conflict resolution, and strategic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approve the pilot for one team in Week 1. Results are measurable immediately — time saved per ceremony, task quality, SM satisfaction. We scale based on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365760"/>
            <a:ext cx="1828800" cy="182880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Scrum Master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Suite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how Scrum Masters lead teams on Azure DevOps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VS Code Copilot AI Agents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@ScrumAgent  ·  Azure DevOps  ·  GitHub Copilot  ·  GPT-4o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47091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Leadership Review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62456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261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609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Scrum pain points at scale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95144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2194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@ScrumAgent on VS Code + Azure DevOps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2783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31272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Walkthrough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Scrum stage agents explained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867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05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" y="40599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Deep Dive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child task auto-generation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362456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04688" y="1261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04688" y="1609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additional agents planned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12140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2295144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4688" y="2194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 for a team of 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05409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22783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04688" y="31272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Evolution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04688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 AI-augmented leadership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9867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41605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04688" y="40599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0468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 &amp; quick wins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Scrum Master time is spent on admin vs. actual coaching?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1764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7830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3–5 hrs/sprint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2093976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rewriting vague stories, adding ACs one by 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552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Sessions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28803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880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2–4 hrs/sprint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3191256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poker planning manually, recording results in 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🗓️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7552" y="3959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11880" y="39776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977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4–6 hrs/sprint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4288536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items, creating 5–7 child tasks per story by hand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69164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22392" y="1764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17830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1–2 hrs/sprint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2392" y="2093976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blocker data, summarising, posting to Teams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7889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22392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28803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2880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2–3 hrs/sprint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22392" y="3191256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data, writing report, creating follow-up items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8862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22392" y="3959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46720" y="39776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3977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2–4 hrs/release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22392" y="4288536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Trawling ADO, grouping features, writing stakeholder-ready copy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 manual overhead: 14–24 hours per sprint per Scrum Master — time not spent coaching, unblocking, or improving the team.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@ScrumAgent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agent. Six Scrum stages. Fully automated on Azure DevOps.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0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@ScrumAgent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4173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90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856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reasoning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OpenAI key needed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490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856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Items, Sprints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Plans, Wiki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4173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490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1856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posts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2011680"/>
            <a:ext cx="256032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256032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011680"/>
            <a:ext cx="256032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88920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2880360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8803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/BacklogRefinement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40" y="2898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stories + generates ACs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502152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3593592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93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/PokerPlanning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77440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story points + risk flags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15384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4306824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3068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/SprintPlanning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77440" y="43251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sprint + 7 SDLC child tasks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788920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2880360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8803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/DailyScrum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12280" y="2898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summary + blocker alerts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502152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3752" y="3593592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593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/Retrospective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12280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analysis + action items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4215384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73752" y="4306824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43068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/ReleaseNotes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12280" y="43251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release notes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@ScrumAgent /  in VS Code Copilot Chat  →  Tab autocomplete  →  instant action on your Azure DevOps sprint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Scrum Automation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Stage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3796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859536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8595360" cy="539496"/>
          </a:xfrm>
          <a:prstGeom prst="roundRect">
            <a:avLst>
              <a:gd name="adj" fmla="val 1016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508760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15768" y="1682496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7792" y="150876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15087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BacklogRefinerAgent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73368" y="1682496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508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/workitems — Rewrites description + adds ACs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029968"/>
            <a:ext cx="8595360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121408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1214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 Planning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2295144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7792" y="2121408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121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73368" y="2295144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212140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/workitems — Story Points + Risk tag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642616"/>
            <a:ext cx="8595360" cy="539496"/>
          </a:xfrm>
          <a:prstGeom prst="roundRect">
            <a:avLst>
              <a:gd name="adj" fmla="val 1016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734056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7340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15768" y="2907792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07792" y="2734056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7792" y="27340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SprintPlannerAgent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73368" y="2907792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7340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Tasks × 7 SDLC phases per story (linked)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255264"/>
            <a:ext cx="8595360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346704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3467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15768" y="3520440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7792" y="3346704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33467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DailyScrumAgent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73368" y="3520440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3467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/wiql → Teams webhook + PATCH state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867912"/>
            <a:ext cx="8595360" cy="539496"/>
          </a:xfrm>
          <a:prstGeom prst="roundRect">
            <a:avLst>
              <a:gd name="adj" fmla="val 10169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959352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9593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15768" y="4133088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792" y="3959352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07792" y="39593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RetroAgent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73368" y="4133088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3959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 → POST improvement work items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480560"/>
            <a:ext cx="8595360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4572000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572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15768" y="4745736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07792" y="457200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07792" y="4572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ReleaseNotesAgent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73368" y="4745736"/>
            <a:ext cx="164592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45720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/wiki/pages + Teams stakeholder message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" y="4992624"/>
            <a:ext cx="8138160" cy="0"/>
          </a:xfrm>
          <a:prstGeom prst="line">
            <a:avLst/>
          </a:prstGeom>
          <a:noFill/>
          <a:ln w="15240">
            <a:solidFill>
              <a:srgbClr val="1E88E5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097280" y="484632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Continuous Cycle — loop returns to Backlog Refinement after each Retrospective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Planning: SDLC Task Auto-Generation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3F0FF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27048"/>
            <a:ext cx="22860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Login with MFA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nurse I want to log in securely...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(3 ACs)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447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  →  ~48 target hours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13716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089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SprintPlannerAgent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all 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via GPT-4o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52928" y="2468880"/>
            <a:ext cx="256032" cy="0"/>
          </a:xfrm>
          <a:prstGeom prst="line">
            <a:avLst/>
          </a:prstGeom>
          <a:noFill/>
          <a:ln w="25400">
            <a:solidFill>
              <a:srgbClr val="334E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3248" y="2468880"/>
            <a:ext cx="256032" cy="0"/>
          </a:xfrm>
          <a:prstGeom prst="line">
            <a:avLst/>
          </a:prstGeom>
          <a:noFill/>
          <a:ln w="25400">
            <a:solidFill>
              <a:srgbClr val="334E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10972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3F0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1399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1664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210312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3F0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15000" y="2404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2670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310896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3F0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🖥️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1500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15000" y="36758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15000" y="411480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3F0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🧪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15000" y="4416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15000" y="46817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87768" y="10972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87768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87768" y="1399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Integration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87768" y="1664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87768" y="210312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8776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87768" y="2404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87768" y="2670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87768" y="310896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87768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🚀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287768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87768" y="36758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Tasks  ·  48h total  ·  All linked to #Story in ADO  ·  Created in &lt; 30 seconds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736592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7640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title and description is specific to THIS story — derived from its Acceptance Criteria. Not generic templates.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Roadmap — What's Next for @ScrumAgent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built  ·  18 more planned across 4 categories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Sprint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CapacityPlanner — warns if sprint overcommitted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DependencyDetector — finds &amp; links story dependencies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SprintHealthCheck — mid-sprint burndown &amp; risk forecast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StaleItemAlerter — pings devs on stuck tasks via Teams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00838F">
              <a:alpha val="85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89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Quality &amp;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739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TestCaseGenerator — ACs → Azure Test Plans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20756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BugTriager — classifies &amp; routes incoming bugs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DefinitionOfDoneChecker — validates before story closes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679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PRLinker — auto-links PRs to User Stories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73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Stakeholder Comms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SprintReviewDeck — auto-builds PowerPoint deck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StakeholderUpdate — weekly progress email draft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261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KPIDashboard — velocity &amp; cycle time 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5628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CommitSummariser — plain-English commit digest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182112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B71C1C">
              <a:alpha val="85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73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Governance &amp; Agentic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AuditTrail — compliance-ready change log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39593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RiskRegister — living ADO Wiki risk register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261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OrchestratorAgent — runs full sprint cycle autonomously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5628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SprintBootstrapper — full backlog from plain-English goal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order: Sprint Intelligence → Quality &amp; Testing → Stakeholder Comms → Governance &amp; Agentic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 — Team Size 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X = team size  ·  2-week sprints  ·  6 sprints/quarter  ·  1 Scrum Master per team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14–24h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sprint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 eliminated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Scrum ceremony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SDLC 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45–60 min manually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6656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sprints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per SM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 can now support 3 teams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Per Sprint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8503920" cy="219456"/>
          </a:xfrm>
          <a:prstGeom prst="rect">
            <a:avLst/>
          </a:prstGeom>
          <a:solidFill>
            <a:srgbClr val="0D2B5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3300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75304" y="3300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(hrs)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04104" y="3300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@ScrumAgent (hrs)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07224" y="3300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511296"/>
            <a:ext cx="8503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520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75304" y="3520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04104" y="3520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07224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~4.5h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8503920" cy="219456"/>
          </a:xfrm>
          <a:prstGeom prst="rect">
            <a:avLst/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3739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 Planning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75304" y="3739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04104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07224" y="37398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950208"/>
            <a:ext cx="8503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" y="39593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+ Tasks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75304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04104" y="3959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07224" y="3959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169664"/>
            <a:ext cx="8503920" cy="219456"/>
          </a:xfrm>
          <a:prstGeom prst="rect">
            <a:avLst/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4178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 prep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75304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04104" y="4178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507224" y="4178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389120"/>
            <a:ext cx="8503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" y="4398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575304" y="4398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04104" y="4398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07224" y="4398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608576"/>
            <a:ext cx="8503920" cy="219456"/>
          </a:xfrm>
          <a:prstGeom prst="rect">
            <a:avLst/>
          </a:prstGeom>
          <a:solidFill>
            <a:srgbClr val="E3F0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575304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404104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07224" y="4617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" y="48371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575304" y="4837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14–26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404104" y="4837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~1h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507224" y="4837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~20h/sprint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Scaling to 5 teams of X: ~100h/sprint saved organisation-wide — equivalent to 2.5 full-time Scrum Master days per sprint.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Master Role — Enhanced, Not Replaced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Manual Scrum Master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270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user stories into refinement templates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568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poker planning and manually updating 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6829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865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5–7 child tasks per story by hand each sprint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163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standup data from ADO into Teams every morning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227832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46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writing velocity tables in the retro doc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6758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3–4 hrs crafting release notes from scratch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1056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developers to update task states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51713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53542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capacity: 1 SM can support only 1 team well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1051560"/>
            <a:ext cx="3840480" cy="411480"/>
          </a:xfrm>
          <a:prstGeom prst="roundRect">
            <a:avLst>
              <a:gd name="adj" fmla="val 1555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AI-Augmented Scrum Master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150876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5270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AI-refined stories — focuses on quality judgement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193852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19568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poker discussion — agent handles data entry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236829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3865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AI-generated SDLC tasks — adjusts where needed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2798064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28163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agent standup summary — focuses on blockers only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3227832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246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velocity insights — coaches on root causes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365760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36758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and publishes AI-drafted release notes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0" y="408736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41056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ADO health via agent — acts on exceptions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0" y="451713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453542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 2–3 teams with same quality of support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33088" y="2423160"/>
            <a:ext cx="0" cy="1371600"/>
          </a:xfrm>
          <a:prstGeom prst="line">
            <a:avLst/>
          </a:prstGeom>
          <a:noFill/>
          <a:ln w="12700">
            <a:solidFill>
              <a:srgbClr val="DBEAFE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133088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74320" y="4754880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82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Master shifts from task executor to strategic coach — the AI handles the admin, the human handles the judgement.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approval to first agent running in &lt; 1 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0CAF9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258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3502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04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to VS Code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config.ini with Sprint URL + PAT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6758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install → F5 → test @ScrumAgent /DailyScrum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13258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0CAF9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3258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33502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Full Sprint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304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/BacklogRefinement before next sprint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/SprintPlanning to generate SDLC tasks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36758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 quality with the team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13258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0CAF9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3258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33502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Tune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304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 saved per ceremony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SM feedback on task quality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6758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prompts in agents/ folder if needed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13258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0CAF9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3258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33502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304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additional teams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SprintHealthCheck + TestCaseGenerator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36758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OrchestratorAgent for full automation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config.ini file  ·  One sprint URL  ·  One PAT token  ·  @ScrumAgent is live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– AI Scrum Master Agents</dc:title>
  <dc:subject>PptxGenJS Presentation</dc:subject>
  <dc:creator>FlowAxis</dc:creator>
  <cp:lastModifiedBy>FlowAxis</cp:lastModifiedBy>
  <cp:revision>1</cp:revision>
  <dcterms:created xsi:type="dcterms:W3CDTF">2026-06-25T03:53:46Z</dcterms:created>
  <dcterms:modified xsi:type="dcterms:W3CDTF">2026-06-25T03:53:46Z</dcterms:modified>
</cp:coreProperties>
</file>